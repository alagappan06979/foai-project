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Nodes expanded</c:v>
                </c:pt>
              </c:strCache>
            </c:strRef>
          </c:tx>
          <c:spPr>
            <a:solidFill>
              <a:srgbClr val="3465A4"/>
            </a:solidFill>
          </c:spPr>
          <c:invertIfNegative val="0"/>
          <c:dPt>
            <c:idx val="0"/>
            <c:spPr>
              <a:solidFill>
                <a:srgbClr val="9AB8DD"/>
              </a:solidFill>
            </c:spPr>
          </c:dPt>
          <c:dPt>
            <c:idx val="1"/>
            <c:spPr>
              <a:solidFill>
                <a:srgbClr val="9AB8DD"/>
              </a:solidFill>
            </c:spPr>
          </c:dPt>
          <c:dPt>
            <c:idx val="2"/>
            <c:spPr>
              <a:solidFill>
                <a:srgbClr val="9AB8DD"/>
              </a:solidFill>
            </c:spPr>
          </c:dPt>
          <c:dPt>
            <c:idx val="3"/>
            <c:spPr>
              <a:solidFill>
                <a:srgbClr val="9AB8DD"/>
              </a:solidFill>
            </c:spPr>
          </c:dPt>
          <c:dPt>
            <c:idx val="4"/>
            <c:spPr>
              <a:solidFill>
                <a:srgbClr val="1F3756"/>
              </a:solidFill>
            </c:spPr>
          </c:dPt>
          <c:cat>
            <c:strRef>
              <c:f>Sheet1!$A$2:$A$6</c:f>
              <c:strCache>
                <c:ptCount val="5"/>
                <c:pt idx="0">
                  <c:v>BFS</c:v>
                </c:pt>
                <c:pt idx="1">
                  <c:v>DFS</c:v>
                </c:pt>
                <c:pt idx="2">
                  <c:v>Dijkstra</c:v>
                </c:pt>
                <c:pt idx="3">
                  <c:v>Greedy</c:v>
                </c:pt>
                <c:pt idx="4">
                  <c:v>A*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2766.35</c:v>
                </c:pt>
                <c:pt idx="1">
                  <c:v>806.45</c:v>
                </c:pt>
                <c:pt idx="2">
                  <c:v>2766.35</c:v>
                </c:pt>
                <c:pt idx="3">
                  <c:v>180.75</c:v>
                </c:pt>
                <c:pt idx="4">
                  <c:v>451.15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3340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AA5B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404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457200"/>
            <a:ext cx="3429000" cy="11064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9164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Department of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2026-2027- Odd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III Year /V Sem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700" b="1" i="0">
                <a:solidFill>
                  <a:srgbClr val="000000"/>
                </a:solidFill>
                <a:latin typeface="Times New Roman"/>
              </a:rPr>
              <a:t>CS23533-FOUNDATIONS OF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</a:rPr>
              <a:t>AI Based Maze Navigation and Pathfinding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000" b="0" i="0">
                <a:solidFill>
                  <a:srgbClr val="000000"/>
                </a:solidFill>
                <a:latin typeface="Times New Roman"/>
              </a:rPr>
              <a:t>Review 1 – 25.09.2026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F6973"/>
                </a:solidFill>
                <a:latin typeface="Calibri"/>
              </a:rPr>
              <a:t>Alagappan R (241901003)  |  Aswin J (241901010)</a:t>
            </a:r>
          </a:p>
          <a:p>
            <a:pPr algn="ctr"/>
            <a:r>
              <a:rPr sz="1400" b="0" i="0">
                <a:solidFill>
                  <a:srgbClr val="5F6973"/>
                </a:solidFill>
                <a:latin typeface="Calibri"/>
              </a:rPr>
              <a:t>Supervisor: Dr. S. Bhuvana, Assistant Professor [SG]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446520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7A838C"/>
                </a:solidFill>
                <a:latin typeface="Calibri"/>
              </a:rPr>
              <a:t>Rajalakshmi Engineering College,Department of Cyber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6309360" cy="5120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The project builds an AI agent that finds the least-cost route from a start cell to a goal cell in a grid maze, and navigates it when the maze changes.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Two parts: </a:t>
            </a:r>
            <a:r>
              <a:rPr sz="1800" b="1" i="0">
                <a:solidFill>
                  <a:srgbClr val="1F3756"/>
                </a:solidFill>
                <a:latin typeface="Calibri"/>
              </a:rPr>
              <a:t>pathfinding</a:t>
            </a:r>
            <a:r>
              <a:rPr sz="1800" b="0" i="0">
                <a:solidFill>
                  <a:srgbClr val="5F6973"/>
                </a:solidFill>
                <a:latin typeface="Calibri"/>
              </a:rPr>
              <a:t> — A* search plans over a known map — and </a:t>
            </a:r>
            <a:r>
              <a:rPr sz="1800" b="1" i="0">
                <a:solidFill>
                  <a:srgbClr val="1F3756"/>
                </a:solidFill>
                <a:latin typeface="Calibri"/>
              </a:rPr>
              <a:t>navigation</a:t>
            </a:r>
            <a:r>
              <a:rPr sz="1800" b="0" i="0">
                <a:solidFill>
                  <a:srgbClr val="5F6973"/>
                </a:solidFill>
                <a:latin typeface="Calibri"/>
              </a:rPr>
              <a:t> — the agent senses new walls while moving and re-plans.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The maze is a formal state space: cells are states, the four moves are actions and every move has a cost (floor 1, rough terrain 5).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BFS, DFS, Dijkstra and Greedy Best-First Search run on the same maze model as baselines for a fair comparison.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A Pygame interface animates the exploration, the final path and the route the agent drives.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051560"/>
            <a:ext cx="4206240" cy="484632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0" y="1234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3756"/>
                </a:solidFill>
                <a:latin typeface="Arial"/>
              </a:rPr>
              <a:t>TASK ENVIRONMENT (AIMA)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3465A4"/>
                </a:solidFill>
                <a:latin typeface="Arial"/>
              </a:rPr>
              <a:t>Observable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3852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Fully (planner); within range r (agent)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5915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3465A4"/>
                </a:solidFill>
                <a:latin typeface="Arial"/>
              </a:rPr>
              <a:t>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0604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Single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02666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3465A4"/>
                </a:solidFill>
                <a:latin typeface="Arial"/>
              </a:rPr>
              <a:t>Deterministic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27355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Yes — a move succeeds unless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69417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3465A4"/>
                </a:solidFill>
                <a:latin typeface="Arial"/>
              </a:rPr>
              <a:t>Episodic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94106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No — sequential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36168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3465A4"/>
                </a:solidFill>
                <a:latin typeface="Arial"/>
              </a:rPr>
              <a:t>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60857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Static; dynamic when walls appear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50292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3465A4"/>
                </a:solidFill>
                <a:latin typeface="Arial"/>
              </a:rPr>
              <a:t>State /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27608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Discrete cells × 4 moves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6400800" cy="5120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Classical solvers apply one fixed strategy (DFS or BFS) and expand many cells far from the route.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They count moves only, so they cannot prefer an easy route to a short but difficult one.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A plan computed once is never checked while the agent moves, so it fails when a corridor closes after planning.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The cost of re-planning — and the effect of how far the agent can sense — is rarely measured.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Maze files are often loaded without validation or any integrity check.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Needed: an agent that plans optimally, re-plans when the maze changes and handles files safely.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0515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09560" y="114300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1F3756"/>
                </a:solidFill>
                <a:latin typeface="Arial"/>
              </a:rPr>
              <a:t>7,606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7830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F6973"/>
                </a:solidFill>
                <a:latin typeface="Calibri"/>
              </a:rPr>
              <a:t>cells expanded by BFS on a 101 × 101 open field (99 % of the free cells)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6517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09560" y="274320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1F3756"/>
                </a:solidFill>
                <a:latin typeface="Arial"/>
              </a:rPr>
              <a:t>4.4×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3832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F6973"/>
                </a:solidFill>
                <a:latin typeface="Calibri"/>
              </a:rPr>
              <a:t>the optimal cost: DFS paths on 61 × 61 open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251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09560" y="434340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1F3756"/>
                </a:solidFill>
                <a:latin typeface="Arial"/>
              </a:rPr>
              <a:t>0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9834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F6973"/>
                </a:solidFill>
                <a:latin typeface="Calibri"/>
              </a:rPr>
              <a:t>optimal paths from Greedy search on 61 × 61 braided mazes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6309360" cy="5120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Pathfinding is at the heart of robot navigation, warehouse logistics, route guidance and game AI.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A* is optimal and efficient when the map is known — but real maps go out of date, so the agent must sense and re-plan.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Few tools measure search algorithms, and re-planning after a change, on the same mazes with the same metrics.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00" b="0" i="0">
                <a:solidFill>
                  <a:srgbClr val="5F6973"/>
                </a:solidFill>
                <a:latin typeface="Calibri"/>
              </a:rPr>
              <a:t>A visual, measurable solver makes these AI concepts easy to see, compare and teach.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08392" y="1325880"/>
            <a:ext cx="0" cy="4297680"/>
          </a:xfrm>
          <a:prstGeom prst="line">
            <a:avLst/>
          </a:prstGeom>
          <a:ln w="19050">
            <a:solidFill>
              <a:srgbClr val="C9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434072" y="10972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34072" y="10972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F3756"/>
                </a:solidFill>
                <a:latin typeface="Arial"/>
              </a:rPr>
              <a:t>1959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143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Moore, Dijkstra: shortest paths</a:t>
            </a:r>
          </a:p>
        </p:txBody>
      </p:sp>
      <p:sp>
        <p:nvSpPr>
          <p:cNvPr id="11" name="Oval 10"/>
          <p:cNvSpPr/>
          <p:nvPr/>
        </p:nvSpPr>
        <p:spPr>
          <a:xfrm>
            <a:off x="7434072" y="1993391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34072" y="1993391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F3756"/>
                </a:solidFill>
                <a:latin typeface="Arial"/>
              </a:rPr>
              <a:t>1968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39111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Hart, Nilsson &amp; Raphael: A* search</a:t>
            </a:r>
          </a:p>
        </p:txBody>
      </p:sp>
      <p:sp>
        <p:nvSpPr>
          <p:cNvPr id="14" name="Oval 13"/>
          <p:cNvSpPr/>
          <p:nvPr/>
        </p:nvSpPr>
        <p:spPr>
          <a:xfrm>
            <a:off x="7434072" y="288950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34072" y="288950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F3756"/>
                </a:solidFill>
                <a:latin typeface="Arial"/>
              </a:rPr>
              <a:t>1994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935224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Stentz: D* re-planning for robots</a:t>
            </a:r>
          </a:p>
        </p:txBody>
      </p:sp>
      <p:sp>
        <p:nvSpPr>
          <p:cNvPr id="17" name="Oval 16"/>
          <p:cNvSpPr/>
          <p:nvPr/>
        </p:nvSpPr>
        <p:spPr>
          <a:xfrm>
            <a:off x="7434072" y="3785615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34072" y="3785615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F3756"/>
                </a:solidFill>
                <a:latin typeface="Arial"/>
              </a:rPr>
              <a:t>2002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831335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Koenig &amp; Likhachev: D* Lite</a:t>
            </a:r>
          </a:p>
        </p:txBody>
      </p:sp>
      <p:sp>
        <p:nvSpPr>
          <p:cNvPr id="20" name="Oval 19"/>
          <p:cNvSpPr/>
          <p:nvPr/>
        </p:nvSpPr>
        <p:spPr>
          <a:xfrm>
            <a:off x="7434072" y="468172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34072" y="46817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F3756"/>
                </a:solidFill>
                <a:latin typeface="Arial"/>
              </a:rPr>
              <a:t>2011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72744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Harabor &amp; Grastien: Jump Point Search</a:t>
            </a:r>
          </a:p>
        </p:txBody>
      </p:sp>
      <p:sp>
        <p:nvSpPr>
          <p:cNvPr id="23" name="Oval 22"/>
          <p:cNvSpPr/>
          <p:nvPr/>
        </p:nvSpPr>
        <p:spPr>
          <a:xfrm>
            <a:off x="7434072" y="5577840"/>
            <a:ext cx="548640" cy="54864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34072" y="5577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56235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50" b="1" i="0">
                <a:solidFill>
                  <a:srgbClr val="1F3756"/>
                </a:solidFill>
                <a:latin typeface="Calibri"/>
              </a:rPr>
              <a:t>A* navigation with sensing and re-planning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0972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5216" y="1097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051560"/>
            <a:ext cx="102412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 i="0">
                <a:solidFill>
                  <a:srgbClr val="5F6973"/>
                </a:solidFill>
                <a:latin typeface="Calibri"/>
              </a:rPr>
              <a:t>To formulate maze navigation as a state-space search problem with step costs and a sensing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92024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5216" y="1920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74520"/>
            <a:ext cx="102412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 i="0">
                <a:solidFill>
                  <a:srgbClr val="5F6973"/>
                </a:solidFill>
                <a:latin typeface="Calibri"/>
              </a:rPr>
              <a:t>To implement A* with an admissible heuristic, with BFS, DFS, Dijkstra and Greedy search as baselines.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274320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85216" y="2743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97480"/>
            <a:ext cx="102412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 i="0">
                <a:solidFill>
                  <a:srgbClr val="5F6973"/>
                </a:solidFill>
                <a:latin typeface="Calibri"/>
              </a:rPr>
              <a:t>To compare the Manhattan, Euclidean and zero heuristics for A*.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35661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5216" y="3566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20440"/>
            <a:ext cx="102412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 i="0">
                <a:solidFill>
                  <a:srgbClr val="5F6973"/>
                </a:solidFill>
                <a:latin typeface="Calibri"/>
              </a:rPr>
              <a:t>To navigate dynamic mazes by sensing new walls and re-planning with A*, compared with a fixed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43891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85216" y="43891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343400"/>
            <a:ext cx="102412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 i="0">
                <a:solidFill>
                  <a:srgbClr val="5F6973"/>
                </a:solidFill>
                <a:latin typeface="Calibri"/>
              </a:rPr>
              <a:t>To visualise the exploration, the paths and the route the agent drives in a graphical interface.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521208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85216" y="5212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166360"/>
            <a:ext cx="1024128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 i="0">
                <a:solidFill>
                  <a:srgbClr val="5F6973"/>
                </a:solidFill>
                <a:latin typeface="Calibri"/>
              </a:rPr>
              <a:t>To compare all methods on path cost, nodes expanded, time, success and detour, and to load every file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60120"/>
          <a:ext cx="11384277" cy="499262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564509"/>
                <a:gridCol w="2163954"/>
                <a:gridCol w="2446208"/>
                <a:gridCol w="3387058"/>
                <a:gridCol w="2822548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S.No.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Author &amp; Year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Method / Technique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Key Findings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Limitations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Dijkstra (1959)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Uniform-cost shortest path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Optimal least-cost paths in graphs with non-negative costs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Explores in every direction; many cells expanded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Hart, Nilsson &amp; Raphael (1968)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A* search, f(n) = g(n) + h(n)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Optimal with an admissible heuristic; fewest expansions for that heuristic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Needs a known map; savings depend on 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Stentz (1994)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D* path planning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A robot re-plans efficiently when it finds that its map is wrong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Complex; designed for robots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Koenig &amp; Likhachev (2002)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D* Lite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Incremental re-planning that reuses the earlier search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More complex than re-running A*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Harabor &amp; Grastien (2011)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Jump Point Search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Prunes symmetric paths on grids; far fewer expansions than A*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Uniform move costs only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Russell &amp; Norvig (2021)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Agent framework and search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Task-environment properties and standard formulations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04D"/>
                          </a:solidFill>
                          <a:latin typeface="Calibri"/>
                        </a:rPr>
                        <a:t>Textbook level; no measured system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6309360" cy="5120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1" i="0">
                <a:solidFill>
                  <a:srgbClr val="1F3756"/>
                </a:solidFill>
                <a:latin typeface="Calibri"/>
              </a:rPr>
              <a:t>Pathfinding visualisers</a:t>
            </a:r>
            <a:r>
              <a:rPr sz="1700" b="0" i="0">
                <a:solidFill>
                  <a:srgbClr val="5F6973"/>
                </a:solidFill>
                <a:latin typeface="Calibri"/>
              </a:rPr>
              <a:t> (e.g. PathFinding.js): animate A*, Dijkstra and BFS on a static, fully known grid; no learning.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1" i="0">
                <a:solidFill>
                  <a:srgbClr val="1F3756"/>
                </a:solidFill>
                <a:latin typeface="Calibri"/>
              </a:rPr>
              <a:t>Micromouse robots:</a:t>
            </a:r>
            <a:r>
              <a:rPr sz="1700" b="0" i="0">
                <a:solidFill>
                  <a:srgbClr val="5F6973"/>
                </a:solidFill>
                <a:latin typeface="Calibri"/>
              </a:rPr>
              <a:t> flood fill on a partly known maze, updating the map while exploring; tuned to one competition format.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1" i="0">
                <a:solidFill>
                  <a:srgbClr val="1F3756"/>
                </a:solidFill>
                <a:latin typeface="Calibri"/>
              </a:rPr>
              <a:t>Typical course projects:</a:t>
            </a:r>
            <a:r>
              <a:rPr sz="1700" b="0" i="0">
                <a:solidFill>
                  <a:srgbClr val="5F6973"/>
                </a:solidFill>
                <a:latin typeface="Calibri"/>
              </a:rPr>
              <a:t> one algorithm, usually DFS or BFS, showing only the final path.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1" i="0">
                <a:solidFill>
                  <a:srgbClr val="1F3756"/>
                </a:solidFill>
                <a:latin typeface="Calibri"/>
              </a:rPr>
              <a:t>Limitations:</a:t>
            </a:r>
            <a:r>
              <a:rPr sz="1700" b="0" i="0">
                <a:solidFill>
                  <a:srgbClr val="5F6973"/>
                </a:solidFill>
                <a:latin typeface="Calibri"/>
              </a:rPr>
              <a:t> no comparison between methods, uniform move costs, no re-planning when the maze changes, unchecked maze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051560"/>
            <a:ext cx="4297680" cy="48920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89520" y="11887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F3756"/>
                </a:solidFill>
                <a:latin typeface="Arial"/>
              </a:rPr>
              <a:t>TYPICAL BASIC SOLVER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645920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2700">
            <a:solidFill>
              <a:srgbClr val="3465A4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3465A4"/>
                </a:solidFill>
                <a:latin typeface="Arial"/>
              </a:rPr>
              <a:t>Maze grid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64040" y="2148840"/>
            <a:ext cx="0" cy="274320"/>
          </a:xfrm>
          <a:prstGeom prst="line">
            <a:avLst/>
          </a:prstGeom>
          <a:ln w="15875">
            <a:solidFill>
              <a:srgbClr val="346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18120" y="2423160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2700">
            <a:solidFill>
              <a:srgbClr val="3465A4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18120" y="24231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3465A4"/>
                </a:solidFill>
                <a:latin typeface="Arial"/>
              </a:rPr>
              <a:t>Fixed strategy (DFS or BFS)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64040" y="2926080"/>
            <a:ext cx="0" cy="274320"/>
          </a:xfrm>
          <a:prstGeom prst="line">
            <a:avLst/>
          </a:prstGeom>
          <a:ln w="15875">
            <a:solidFill>
              <a:srgbClr val="346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18120" y="3200400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2700">
            <a:solidFill>
              <a:srgbClr val="3465A4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18120" y="32004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3465A4"/>
                </a:solidFill>
                <a:latin typeface="Arial"/>
              </a:rPr>
              <a:t>Expand cells blindly, one by 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64040" y="3703320"/>
            <a:ext cx="0" cy="274319"/>
          </a:xfrm>
          <a:prstGeom prst="line">
            <a:avLst/>
          </a:prstGeom>
          <a:ln w="15875">
            <a:solidFill>
              <a:srgbClr val="346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18120" y="3977639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2700">
            <a:solidFill>
              <a:srgbClr val="3465A4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18120" y="3977639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3465A4"/>
                </a:solidFill>
                <a:latin typeface="Arial"/>
              </a:rPr>
              <a:t>First path found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64040" y="4480559"/>
            <a:ext cx="0" cy="274320"/>
          </a:xfrm>
          <a:prstGeom prst="line">
            <a:avLst/>
          </a:prstGeom>
          <a:ln w="15875">
            <a:solidFill>
              <a:srgbClr val="3465A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18120" y="4754880"/>
            <a:ext cx="3291840" cy="50292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2700">
            <a:solidFill>
              <a:srgbClr val="3465A4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18120" y="475488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00" b="1" i="0">
                <a:solidFill>
                  <a:srgbClr val="3465A4"/>
                </a:solidFill>
                <a:latin typeface="Arial"/>
              </a:rPr>
              <a:t>Output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48640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1">
                <a:solidFill>
                  <a:srgbClr val="5F6973"/>
                </a:solidFill>
                <a:latin typeface="Calibri"/>
              </a:rPr>
              <a:t>No heuristic, no step costs and no re-planning when the maze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6583680" cy="5120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One maze model (wall grid + cost map) shared by every algorithm, with four generators and a validated file format.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A* with the Manhattan heuristic plans the optimal route; BFS, DFS, Dijkstra and Greedy are measured on the same mazes.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1" i="0">
                <a:solidFill>
                  <a:srgbClr val="1F3756"/>
                </a:solidFill>
                <a:latin typeface="Calibri"/>
              </a:rPr>
              <a:t>Navigation:</a:t>
            </a:r>
            <a:r>
              <a:rPr sz="1700" b="0" i="0">
                <a:solidFill>
                  <a:srgbClr val="5F6973"/>
                </a:solidFill>
                <a:latin typeface="Calibri"/>
              </a:rPr>
              <a:t> the agent follows its A* plan, senses walls within range r and re-plans from where it stands when blocked.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A fixed plan and an oracle that knows the change frame the comparison of detour cost and effort.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700" b="0" i="0">
                <a:solidFill>
                  <a:srgbClr val="5F6973"/>
                </a:solidFill>
                <a:latin typeface="Calibri"/>
              </a:rPr>
              <a:t>A Pygame interface shows every step; maze files are validated and carry a SHA-256 digest.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868680"/>
            <a:ext cx="4160520" cy="54406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prop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378" y="932688"/>
            <a:ext cx="375792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5760720" cy="5120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650" b="1" i="0">
                <a:solidFill>
                  <a:srgbClr val="1F3756"/>
                </a:solidFill>
                <a:latin typeface="Calibri"/>
              </a:rPr>
              <a:t>Presentation layer:</a:t>
            </a:r>
            <a:r>
              <a:rPr sz="1650" b="0" i="0">
                <a:solidFill>
                  <a:srgbClr val="5F6973"/>
                </a:solidFill>
                <a:latin typeface="Calibri"/>
              </a:rPr>
              <a:t> Pygame window with the maze view, controls and statistics.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650" b="1" i="0">
                <a:solidFill>
                  <a:srgbClr val="1F3756"/>
                </a:solidFill>
                <a:latin typeface="Calibri"/>
              </a:rPr>
              <a:t>Application core</a:t>
            </a:r>
            <a:r>
              <a:rPr sz="1650" b="0" i="0">
                <a:solidFill>
                  <a:srgbClr val="5F6973"/>
                </a:solidFill>
                <a:latin typeface="Calibri"/>
              </a:rPr>
              <a:t> (mazesolver package): maze environment, search engine and navigator (belief map, sensing, re-planning A*).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650" b="1" i="0">
                <a:solidFill>
                  <a:srgbClr val="1F3756"/>
                </a:solidFill>
                <a:latin typeface="Calibri"/>
              </a:rPr>
              <a:t>Analysis and testing:</a:t>
            </a:r>
            <a:r>
              <a:rPr sz="1650" b="0" i="0">
                <a:solidFill>
                  <a:srgbClr val="5F6973"/>
                </a:solidFill>
                <a:latin typeface="Calibri"/>
              </a:rPr>
              <a:t> benchmark runner, charts and automated tests use the same core as the interface.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650" b="1" i="0">
                <a:solidFill>
                  <a:srgbClr val="1F3756"/>
                </a:solidFill>
                <a:latin typeface="Calibri"/>
              </a:rPr>
              <a:t>Local storage:</a:t>
            </a:r>
            <a:r>
              <a:rPr sz="1650" b="0" i="0">
                <a:solidFill>
                  <a:srgbClr val="5F6973"/>
                </a:solidFill>
                <a:latin typeface="Calibri"/>
              </a:rPr>
              <a:t> maze files with SHA-256 digests, results and screenshots — checked on load.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650" b="0" i="0">
                <a:solidFill>
                  <a:srgbClr val="5F6973"/>
                </a:solidFill>
                <a:latin typeface="Calibri"/>
              </a:rPr>
              <a:t>Runs entirely on the user’s computer: no server, no network, no personal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868680"/>
            <a:ext cx="5029200" cy="54406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41" y="932688"/>
            <a:ext cx="447371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09728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13816" y="132588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3816" y="1325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2801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State-Space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96596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Cells as states, four moves as actions, an entry cost per cell; goal test s = 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109728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62855" y="132588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62855" y="1325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12801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Maze Generation &amp;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196596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Perfect, braided, open-field and weighted mazes from a seed; files checked before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09728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11896" y="132588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11896" y="1325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12801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Search Algorithms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196596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BFS, DFS, Dijkstra, Greedy and A* behind one interface; nodes, cost and time recorded.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361188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13816" y="384048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3816" y="3840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947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Dynamic Mazes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448056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Cells of the planned route closed, or random walls added, after planning; goal kept reachable.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4255" y="361188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562855" y="384048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62855" y="3840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6" y="37947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Sensing &amp; Re-planning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5" y="448056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The agent senses walls within range r, updates its belief map and re-plans with A* when blocked.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3611880"/>
            <a:ext cx="3429000" cy="2194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311896" y="384048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11896" y="3840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37947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Evaluation &amp; Visualisation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48056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F6973"/>
                </a:solidFill>
                <a:latin typeface="Calibri"/>
              </a:rPr>
              <a:t>Fixed-seed experiments, charts and an animated Pygame interface.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005840"/>
            <a:ext cx="1101852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3EB"/>
            </a:solidFill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Programming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05840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5F6973"/>
                </a:solidFill>
                <a:latin typeface="Calibri"/>
              </a:rPr>
              <a:t>Python 3.13 — all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627632"/>
            <a:ext cx="11018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Libraries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27632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5F6973"/>
                </a:solidFill>
                <a:latin typeface="Calibri"/>
              </a:rPr>
              <a:t>NumPy 2.5 (grid, cost map)  ·  Pygame 2.6 (interface)  ·  Matplotlib 3.11 (charts)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2249424"/>
            <a:ext cx="1101852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3EB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24942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4942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5F6973"/>
                </a:solidFill>
                <a:latin typeface="Calibri"/>
              </a:rPr>
              <a:t>A*, BFS, DFS, Dijkstra, Greedy Best-First Search, re-planning A* with a sensing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871216"/>
            <a:ext cx="11018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287121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71216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5F6973"/>
                </a:solidFill>
                <a:latin typeface="Calibri"/>
              </a:rPr>
              <a:t>Python unittest — automated tests for the maze, search and navigation 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493008"/>
            <a:ext cx="1101852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3EB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49300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493008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5F6973"/>
                </a:solidFill>
                <a:latin typeface="Calibri"/>
              </a:rPr>
              <a:t>Validated maze parser, SHA-256 integrity digests, resource limits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4114800"/>
            <a:ext cx="11018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Tools / 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114800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5F6973"/>
                </a:solidFill>
                <a:latin typeface="Calibri"/>
              </a:rPr>
              <a:t>Visual Studio Code, Git &amp; GitHub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4736592"/>
            <a:ext cx="1101852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DCE3EB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73659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Operating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736592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5F6973"/>
                </a:solidFill>
                <a:latin typeface="Calibri"/>
              </a:rPr>
              <a:t>Windows 10/11 or Linux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" y="5358384"/>
            <a:ext cx="11018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B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35838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Hardware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358384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5F6973"/>
                </a:solidFill>
                <a:latin typeface="Calibri"/>
              </a:rPr>
              <a:t>Intel Core i3 or above, 4 GB RAM, 256 GB storage; no GPU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Module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005840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1155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Module 1 – Maze Environment &amp;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4630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1F3756"/>
                </a:solidFill>
                <a:latin typeface="Courier New"/>
              </a:rPr>
              <a:t>maze.py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8308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F6973"/>
                </a:solidFill>
                <a:latin typeface="Calibri"/>
              </a:rPr>
              <a:t>Wall grid and cost map; perfect, braided, open-field and weighted generators; validated text loader.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005840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1656" y="111556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Module 2 – Search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146304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1F3756"/>
                </a:solidFill>
                <a:latin typeface="Courier New"/>
              </a:rPr>
              <a:t>search.py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178308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F6973"/>
                </a:solidFill>
                <a:latin typeface="Calibri"/>
              </a:rPr>
              <a:t>BFS, DFS, Dijkstra, Greedy and A* (Manhattan, Euclidean, zero heuristics) with nodes, cost and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2788920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28986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Module 3 – Dynamic Navigation &amp; Re-planning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2461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1F3756"/>
                </a:solidFill>
                <a:latin typeface="Courier New"/>
              </a:rPr>
              <a:t>dynamic.py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56616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F6973"/>
                </a:solidFill>
                <a:latin typeface="Calibri"/>
              </a:rPr>
              <a:t>New walls after planning; belief map, sensing within range r, re-planning A*.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788920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91656" y="289864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Module 4 – Visualisation &amp;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2461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1F3756"/>
                </a:solidFill>
                <a:latin typeface="Courier New"/>
              </a:rPr>
              <a:t>app.py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56616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F6973"/>
                </a:solidFill>
                <a:latin typeface="Calibri"/>
              </a:rPr>
              <a:t>Pygame window: animated search, comparison view, original plan and route driven.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4572000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8096" y="46817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Module 5 – Performance Analysis &amp;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0292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1F3756"/>
                </a:solidFill>
                <a:latin typeface="Courier New"/>
              </a:rPr>
              <a:t>bench/ · tests/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34924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F6973"/>
                </a:solidFill>
                <a:latin typeface="Calibri"/>
              </a:rPr>
              <a:t>Fixed-seed experiments, charts and automated tests.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572000"/>
            <a:ext cx="5349240" cy="1572768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91656" y="468172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3465A4"/>
                </a:solidFill>
                <a:latin typeface="Arial"/>
              </a:rPr>
              <a:t>Module 6 – Secure File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50292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50" b="1" i="0">
                <a:solidFill>
                  <a:srgbClr val="1F3756"/>
                </a:solidFill>
                <a:latin typeface="Courier New"/>
              </a:rPr>
              <a:t>maze.py · app.py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534924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5F6973"/>
                </a:solidFill>
                <a:latin typeface="Calibri"/>
              </a:rPr>
              <a:t>Size-capped reading, SHA-256 digest check, allow-list parser, validation.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Working Prototype – Search Visualiser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pic>
        <p:nvPicPr>
          <p:cNvPr id="6" name="Picture 5" descr="gui_as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2739"/>
            <a:ext cx="7452360" cy="4712521"/>
          </a:xfrm>
          <a:prstGeom prst="rect">
            <a:avLst/>
          </a:prstGeom>
          <a:ln w="9525">
            <a:solidFill>
              <a:srgbClr val="C9D3D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6035040"/>
            <a:ext cx="7452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1">
                <a:solidFill>
                  <a:srgbClr val="5F6973"/>
                </a:solidFill>
                <a:latin typeface="Calibri"/>
              </a:rPr>
              <a:t>A* on a 31 × 31 braided maze — optimal cost 76 after 290 expansions in 1.28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005840"/>
            <a:ext cx="3749039" cy="5303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0" i="0">
                <a:solidFill>
                  <a:srgbClr val="5F6973"/>
                </a:solidFill>
                <a:latin typeface="Calibri"/>
              </a:rPr>
              <a:t>Keys 1–5 run BFS, DFS, Dijkstra, Greedy or A*; cells are animated in the order they are expanded.</a:t>
            </a:r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0" i="0">
                <a:solidFill>
                  <a:srgbClr val="5F6973"/>
                </a:solidFill>
                <a:latin typeface="Calibri"/>
              </a:rPr>
              <a:t>Explored cells are shaded blue and the final path is drawn in orange.</a:t>
            </a:r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0" i="0">
                <a:solidFill>
                  <a:srgbClr val="5F6973"/>
                </a:solidFill>
                <a:latin typeface="Calibri"/>
              </a:rPr>
              <a:t>The panel reports path length and cost, the optimal cost, nodes expanded, peak frontier and time.</a:t>
            </a:r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0" i="0">
                <a:solidFill>
                  <a:srgbClr val="5F6973"/>
                </a:solidFill>
                <a:latin typeface="Calibri"/>
              </a:rPr>
              <a:t>G generates a new maze, T changes its type, +/− its size; a click toggles a wall.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Working Prototype – Algorithm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pic>
        <p:nvPicPr>
          <p:cNvPr id="6" name="Picture 5" descr="gui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2739"/>
            <a:ext cx="7452360" cy="4712521"/>
          </a:xfrm>
          <a:prstGeom prst="rect">
            <a:avLst/>
          </a:prstGeom>
          <a:ln w="9525">
            <a:solidFill>
              <a:srgbClr val="C9D3D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11480" y="6035040"/>
            <a:ext cx="74523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1">
                <a:solidFill>
                  <a:srgbClr val="5F6973"/>
                </a:solidFill>
                <a:latin typeface="Calibri"/>
              </a:rPr>
              <a:t>Same 31 × 31 braided maze, seed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005840"/>
            <a:ext cx="3749039" cy="5303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0" i="0">
                <a:solidFill>
                  <a:srgbClr val="5F6973"/>
                </a:solidFill>
                <a:latin typeface="Calibri"/>
              </a:rPr>
              <a:t>Key C runs four algorithms side by side on the same maze.</a:t>
            </a:r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1" i="0">
                <a:solidFill>
                  <a:srgbClr val="1F3756"/>
                </a:solidFill>
                <a:latin typeface="Calibri"/>
              </a:rPr>
              <a:t>BFS:</a:t>
            </a:r>
            <a:r>
              <a:rPr sz="1450" b="0" i="0">
                <a:solidFill>
                  <a:srgbClr val="5F6973"/>
                </a:solidFill>
                <a:latin typeface="Calibri"/>
              </a:rPr>
              <a:t> 476 cells expanded, cost 76 (optimal).</a:t>
            </a:r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1" i="0">
                <a:solidFill>
                  <a:srgbClr val="1F3756"/>
                </a:solidFill>
                <a:latin typeface="Calibri"/>
              </a:rPr>
              <a:t>DFS:</a:t>
            </a:r>
            <a:r>
              <a:rPr sz="1450" b="0" i="0">
                <a:solidFill>
                  <a:srgbClr val="5F6973"/>
                </a:solidFill>
                <a:latin typeface="Calibri"/>
              </a:rPr>
              <a:t> 103 cells, but a path of cost 94.</a:t>
            </a:r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1" i="0">
                <a:solidFill>
                  <a:srgbClr val="1F3756"/>
                </a:solidFill>
                <a:latin typeface="Calibri"/>
              </a:rPr>
              <a:t>Greedy:</a:t>
            </a:r>
            <a:r>
              <a:rPr sz="1450" b="0" i="0">
                <a:solidFill>
                  <a:srgbClr val="5F6973"/>
                </a:solidFill>
                <a:latin typeface="Calibri"/>
              </a:rPr>
              <a:t> only 92 cells, path of cost 80.</a:t>
            </a:r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sz="1450" b="1" i="0">
                <a:solidFill>
                  <a:srgbClr val="1F3756"/>
                </a:solidFill>
                <a:latin typeface="Calibri"/>
              </a:rPr>
              <a:t>A*:</a:t>
            </a:r>
            <a:r>
              <a:rPr sz="1450" b="0" i="0">
                <a:solidFill>
                  <a:srgbClr val="5F6973"/>
                </a:solidFill>
                <a:latin typeface="Calibri"/>
              </a:rPr>
              <a:t> 290 cells, cost 76 (optimal).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Preliminary /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960120"/>
            <a:ext cx="5486400" cy="53492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F3756"/>
                </a:solidFill>
                <a:latin typeface="Arial"/>
              </a:rPr>
              <a:t>MEASURED ON THE PROTOTYPE (400 MAZES)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5029200" cy="4206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sz="1650" b="1" i="0">
                <a:solidFill>
                  <a:srgbClr val="1F3756"/>
                </a:solidFill>
                <a:latin typeface="Calibri"/>
              </a:rPr>
              <a:t>Correct:</a:t>
            </a:r>
            <a:r>
              <a:rPr sz="1650" b="0" i="0">
                <a:solidFill>
                  <a:srgbClr val="5F6973"/>
                </a:solidFill>
                <a:latin typeface="Calibri"/>
              </a:rPr>
              <a:t> A* matched Dijkstra’s optimal cost in all 400 test mazes (4 types × 5 sizes × 20 seeds).</a:t>
            </a:r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sz="1650" b="1" i="0">
                <a:solidFill>
                  <a:srgbClr val="1F3756"/>
                </a:solidFill>
                <a:latin typeface="Calibri"/>
              </a:rPr>
              <a:t>Efficient:</a:t>
            </a:r>
            <a:r>
              <a:rPr sz="1650" b="0" i="0">
                <a:solidFill>
                  <a:srgbClr val="5F6973"/>
                </a:solidFill>
                <a:latin typeface="Calibri"/>
              </a:rPr>
              <a:t> on 61 × 61 open fields A* expanded 451 cells against 2,766 for BFS — 84 % fewer — in 2.30 ms against 8.12 ms.</a:t>
            </a:r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sz="1650" b="1" i="0">
                <a:solidFill>
                  <a:srgbClr val="1F3756"/>
                </a:solidFill>
                <a:latin typeface="Calibri"/>
              </a:rPr>
              <a:t>Greedy is fast but unreliable:</a:t>
            </a:r>
            <a:r>
              <a:rPr sz="1650" b="0" i="0">
                <a:solidFill>
                  <a:srgbClr val="5F6973"/>
                </a:solidFill>
                <a:latin typeface="Calibri"/>
              </a:rPr>
              <a:t> 181 cells, yet paths 19 % costlier; DFS paths cost 4.4× the optimum.</a:t>
            </a:r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sz="1650" b="1" i="0">
                <a:solidFill>
                  <a:srgbClr val="1F3756"/>
                </a:solidFill>
                <a:latin typeface="Calibri"/>
              </a:rPr>
              <a:t>Expected next:</a:t>
            </a:r>
            <a:r>
              <a:rPr sz="1650" b="0" i="0">
                <a:solidFill>
                  <a:srgbClr val="5F6973"/>
                </a:solidFill>
                <a:latin typeface="Calibri"/>
              </a:rPr>
              <a:t> re-planning A* should reach the goal whenever a path exists, where a fixed plan fails at the first new wall.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7A838C"/>
                </a:solidFill>
                <a:latin typeface="Calibri"/>
              </a:rPr>
              <a:t>Mean of 20 mazes per cell; times from the Python prototype on one laptop 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960120"/>
            <a:ext cx="5257800" cy="36118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46520" y="1005840"/>
          <a:ext cx="507492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92240" y="10058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1F3756"/>
                </a:solidFill>
                <a:latin typeface="Calibri"/>
              </a:rPr>
              <a:t>Nodes expanded — 61 × 61 open field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754880"/>
            <a:ext cx="1645920" cy="15544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4846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100" b="1" i="0">
                <a:solidFill>
                  <a:srgbClr val="1F3756"/>
                </a:solidFill>
                <a:latin typeface="Arial"/>
              </a:rPr>
              <a:t>84 %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48640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0" i="0">
                <a:solidFill>
                  <a:srgbClr val="5F6973"/>
                </a:solidFill>
                <a:latin typeface="Calibri"/>
              </a:rPr>
              <a:t>fewer nodes than BFS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754880"/>
            <a:ext cx="1645920" cy="15544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0" y="4846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100" b="1" i="0">
                <a:solidFill>
                  <a:srgbClr val="1F3756"/>
                </a:solidFill>
                <a:latin typeface="Arial"/>
              </a:rPr>
              <a:t>400 / 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48640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0" i="0">
                <a:solidFill>
                  <a:srgbClr val="5F6973"/>
                </a:solidFill>
                <a:latin typeface="Calibri"/>
              </a:rPr>
              <a:t>optimal paths from A*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4754880"/>
            <a:ext cx="1645920" cy="15544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21240" y="48463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100" b="1" i="0">
                <a:solidFill>
                  <a:srgbClr val="1F3756"/>
                </a:solidFill>
                <a:latin typeface="Arial"/>
              </a:rPr>
              <a:t>0 /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548640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50" b="0" i="0">
                <a:solidFill>
                  <a:srgbClr val="5F6973"/>
                </a:solidFill>
                <a:latin typeface="Calibri"/>
              </a:rPr>
              <a:t>optimal from Greedy (braided)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051560"/>
          <a:ext cx="10561320" cy="49377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696462"/>
                <a:gridCol w="1320165"/>
                <a:gridCol w="1320165"/>
                <a:gridCol w="1320165"/>
                <a:gridCol w="1320165"/>
                <a:gridCol w="158419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Month 1 (Aug)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Month 2 (Sep)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Month 3 (Oct)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Month 4 (Nov)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1F375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D"/>
                          </a:solidFill>
                          <a:latin typeface="Calibri"/>
                        </a:rPr>
                        <a:t>Literature survey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D"/>
                          </a:solidFill>
                          <a:latin typeface="Calibri"/>
                        </a:rPr>
                        <a:t>Problem identification &amp; state-space formulation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D"/>
                          </a:solidFill>
                          <a:latin typeface="Calibri"/>
                        </a:rPr>
                        <a:t>System design &amp; architecture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D"/>
                          </a:solidFill>
                          <a:latin typeface="Calibri"/>
                        </a:rPr>
                        <a:t>Maze environment &amp; search algorithms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D"/>
                          </a:solidFill>
                          <a:latin typeface="Calibri"/>
                        </a:rPr>
                        <a:t>Search visualiser (Pygame)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Prototype done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D"/>
                          </a:solidFill>
                          <a:latin typeface="Calibri"/>
                        </a:rPr>
                        <a:t>Dynamic mazes &amp; re-planning agent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C777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D"/>
                          </a:solidFill>
                          <a:latin typeface="Calibri"/>
                        </a:rPr>
                        <a:t>Sensing-range study &amp; benchmarking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7A838C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D"/>
                          </a:solidFill>
                          <a:latin typeface="Calibri"/>
                        </a:rPr>
                        <a:t>Testing, report &amp; final evaluation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2E7D32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7A838C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pic>
        <p:nvPicPr>
          <p:cNvPr id="6" name="Picture 5" descr="image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4984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932688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5F6973"/>
                </a:solidFill>
                <a:latin typeface="Calibri"/>
              </a:rPr>
              <a:t>Literature survey and problem formulation complete</a:t>
            </a:r>
          </a:p>
        </p:txBody>
      </p:sp>
      <p:pic>
        <p:nvPicPr>
          <p:cNvPr id="8" name="Picture 7" descr="image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6192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1453895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5F6973"/>
                </a:solidFill>
                <a:latin typeface="Calibri"/>
              </a:rPr>
              <a:t>Architecture and six modules defined</a:t>
            </a:r>
          </a:p>
        </p:txBody>
      </p:sp>
      <p:pic>
        <p:nvPicPr>
          <p:cNvPr id="10" name="Picture 9" descr="image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1975104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5F6973"/>
                </a:solidFill>
                <a:latin typeface="Calibri"/>
              </a:rPr>
              <a:t>Maze model, four generators and validated file loader</a:t>
            </a:r>
          </a:p>
        </p:txBody>
      </p:sp>
      <p:pic>
        <p:nvPicPr>
          <p:cNvPr id="12" name="Picture 11" descr="image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78608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2496312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5F6973"/>
                </a:solidFill>
                <a:latin typeface="Calibri"/>
              </a:rPr>
              <a:t>BFS, DFS, Dijkstra, Greedy and A* implemented</a:t>
            </a:r>
          </a:p>
        </p:txBody>
      </p:sp>
      <p:pic>
        <p:nvPicPr>
          <p:cNvPr id="14" name="Picture 13" descr="image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99815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3000" y="3017520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5F6973"/>
                </a:solidFill>
                <a:latin typeface="Calibri"/>
              </a:rPr>
              <a:t>Pygame search visualiser and comparison view</a:t>
            </a:r>
          </a:p>
        </p:txBody>
      </p:sp>
      <p:pic>
        <p:nvPicPr>
          <p:cNvPr id="16" name="Picture 15" descr="image-1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21023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3000" y="3538727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5F6973"/>
                </a:solidFill>
                <a:latin typeface="Calibri"/>
              </a:rPr>
              <a:t>Search benchmark on 400 mazes</a:t>
            </a:r>
          </a:p>
        </p:txBody>
      </p:sp>
      <p:pic>
        <p:nvPicPr>
          <p:cNvPr id="18" name="Picture 17" descr="image-17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42231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3000" y="4059935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9AA5B1"/>
                </a:solidFill>
                <a:latin typeface="Calibri"/>
              </a:rPr>
              <a:t>Dynamic mazes and re-planning agent (in progress)</a:t>
            </a:r>
          </a:p>
        </p:txBody>
      </p:sp>
      <p:pic>
        <p:nvPicPr>
          <p:cNvPr id="20" name="Picture 19" descr="image-17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663440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3000" y="4581144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9AA5B1"/>
                </a:solidFill>
                <a:latin typeface="Calibri"/>
              </a:rPr>
              <a:t>Sensing range and belief map</a:t>
            </a:r>
          </a:p>
        </p:txBody>
      </p:sp>
      <p:pic>
        <p:nvPicPr>
          <p:cNvPr id="22" name="Picture 21" descr="image-17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8464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43000" y="5102352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9AA5B1"/>
                </a:solidFill>
                <a:latin typeface="Calibri"/>
              </a:rPr>
              <a:t>Navigation experiments and automated test suite</a:t>
            </a:r>
          </a:p>
        </p:txBody>
      </p:sp>
      <p:pic>
        <p:nvPicPr>
          <p:cNvPr id="24" name="Picture 23" descr="image-17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05856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3000" y="5623560"/>
            <a:ext cx="6172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50" b="0" i="0">
                <a:solidFill>
                  <a:srgbClr val="9AA5B1"/>
                </a:solidFill>
                <a:latin typeface="Calibri"/>
              </a:rPr>
              <a:t>Final evaluation, report and documentation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1097280"/>
            <a:ext cx="3931920" cy="475488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80960" y="1371600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8800" b="1" i="0">
                <a:solidFill>
                  <a:srgbClr val="1F3756"/>
                </a:solidFill>
                <a:latin typeface="Arial"/>
              </a:rPr>
              <a:t>6</a:t>
            </a:r>
            <a:r>
              <a:rPr sz="3000">
                <a:solidFill>
                  <a:srgbClr val="9AA5B1"/>
                </a:solidFill>
                <a:latin typeface="Arial"/>
              </a:rPr>
              <a:t> /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83464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800" b="0" i="0">
                <a:solidFill>
                  <a:srgbClr val="5F6973"/>
                </a:solidFill>
                <a:latin typeface="Calibri"/>
              </a:rPr>
              <a:t>milestones 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474720"/>
            <a:ext cx="33832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1">
                <a:solidFill>
                  <a:srgbClr val="3465A4"/>
                </a:solidFill>
                <a:latin typeface="Calibri"/>
              </a:rPr>
              <a:t>The pathfinding half is working and measured — dynamic mazes, sensing and re-planning come next.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0749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1" i="0">
                <a:solidFill>
                  <a:srgbClr val="1F3756"/>
                </a:solidFill>
                <a:latin typeface="Courier New"/>
              </a:rPr>
              <a:t>python app.py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1280160"/>
            <a:ext cx="0" cy="4389120"/>
          </a:xfrm>
          <a:prstGeom prst="line">
            <a:avLst/>
          </a:prstGeom>
          <a:ln w="19050">
            <a:solidFill>
              <a:srgbClr val="C9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51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0" i="0">
                <a:solidFill>
                  <a:srgbClr val="5F6973"/>
                </a:solidFill>
                <a:latin typeface="Calibri"/>
              </a:rPr>
              <a:t>Simulate dynamic mazes: close cells of the planned route, or add random walls, after planning.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11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0" i="0">
                <a:solidFill>
                  <a:srgbClr val="5F6973"/>
                </a:solidFill>
                <a:latin typeface="Calibri"/>
              </a:rPr>
              <a:t>Build the navigating agent: belief map, sensing within range r and re-planning with A* from its current cell.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0" i="0">
                <a:solidFill>
                  <a:srgbClr val="5F6973"/>
                </a:solidFill>
                <a:latin typeface="Calibri"/>
              </a:rPr>
              <a:t>Compare a fixed plan with re-planning A*, and measure the effect of the sensing range on the detour.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97764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0" i="0">
                <a:solidFill>
                  <a:srgbClr val="5F6973"/>
                </a:solidFill>
                <a:latin typeface="Calibri"/>
              </a:rPr>
              <a:t>Save mazes with a SHA-256 digest, add strict loading, and build the automated test suite.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937760"/>
            <a:ext cx="457200" cy="45720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4937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92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700" b="0" i="0">
                <a:solidFill>
                  <a:srgbClr val="5F6973"/>
                </a:solidFill>
                <a:latin typeface="Calibri"/>
              </a:rPr>
              <a:t>Run the navigation experiments, and prepare the final report and comparative evaluation.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97280"/>
            <a:ext cx="6492240" cy="502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50" b="0" i="0">
                <a:solidFill>
                  <a:srgbClr val="5F6973"/>
                </a:solidFill>
                <a:latin typeface="Calibri"/>
              </a:rPr>
              <a:t>Maze navigation is formulated as a state-space search problem with step costs and a sensing range.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50" b="0" i="0">
                <a:solidFill>
                  <a:srgbClr val="5F6973"/>
                </a:solidFill>
                <a:latin typeface="Calibri"/>
              </a:rPr>
              <a:t>The pathfinding half of the system works: five algorithms on one maze model with an animated, measurable interface.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50" b="0" i="0">
                <a:solidFill>
                  <a:srgbClr val="5F6973"/>
                </a:solidFill>
                <a:latin typeface="Calibri"/>
              </a:rPr>
              <a:t>First measurements confirm that A* is optimal and expands far fewer cells than uninformed search.</a:t>
            </a:r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sz="1850" b="0" i="0">
                <a:solidFill>
                  <a:srgbClr val="5F6973"/>
                </a:solidFill>
                <a:latin typeface="Calibri"/>
              </a:rPr>
              <a:t>The remaining work adds dynamic mazes, sensing and re-planning, all measured on the same mazes.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14300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818120" y="1444752"/>
            <a:ext cx="640080" cy="64008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pic>
        <p:nvPicPr>
          <p:cNvPr id="9" name="Picture 8" descr="image-1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4" y="1591056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135331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3465A4"/>
                </a:solidFill>
                <a:latin typeface="Arial"/>
              </a:rPr>
              <a:t>Optimal and efficient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556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50" b="0" i="0">
                <a:solidFill>
                  <a:srgbClr val="5F6973"/>
                </a:solidFill>
                <a:latin typeface="Calibri"/>
              </a:rPr>
              <a:t>A* with an admissible heuristic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74320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818120" y="3044952"/>
            <a:ext cx="640080" cy="64008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pic>
        <p:nvPicPr>
          <p:cNvPr id="14" name="Picture 13" descr="image-19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4" y="3191256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41080" y="295351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3465A4"/>
                </a:solidFill>
                <a:latin typeface="Arial"/>
              </a:rPr>
              <a:t>Adapts to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3558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50" b="0" i="0">
                <a:solidFill>
                  <a:srgbClr val="5F6973"/>
                </a:solidFill>
                <a:latin typeface="Calibri"/>
              </a:rPr>
              <a:t>Sensing and re-planning (next phase)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34340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3465A4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818120" y="4645152"/>
            <a:ext cx="640080" cy="640080"/>
          </a:xfrm>
          <a:prstGeom prst="ellipse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</p:spPr>
        <p:txBody>
          <a:bodyPr rtlCol="0" anchor="ctr"/>
          <a:lstStyle/>
          <a:p/>
        </p:txBody>
      </p:sp>
      <p:pic>
        <p:nvPicPr>
          <p:cNvPr id="19" name="Picture 18" descr="image-19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4791456"/>
            <a:ext cx="347472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41080" y="455371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3465A4"/>
                </a:solidFill>
                <a:latin typeface="Arial"/>
              </a:rPr>
              <a:t>Safe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9560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50" b="0" i="0">
                <a:solidFill>
                  <a:srgbClr val="5F6973"/>
                </a:solidFill>
                <a:latin typeface="Calibri"/>
              </a:rPr>
              <a:t>Validated files, SHA-256 digests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 w="12700">
            <a:solidFill>
              <a:srgbClr val="1F3756"/>
            </a:solidFill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5216" y="73152"/>
            <a:ext cx="96012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6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7A838C"/>
                </a:solidFill>
                <a:latin typeface="Calibri"/>
              </a:rPr>
              <a:t>Department of Cyber Security  |  Project Review – 1  |  2026–2027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51560"/>
            <a:ext cx="10972800" cy="5212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F6973"/>
                </a:solidFill>
                <a:latin typeface="Calibri"/>
              </a:rPr>
              <a:t>[1] Dijkstra, E. W. (1959). A Note on Two Problems in Connexion with Graphs. Numerische Mathematik, 1, 269–271.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F6973"/>
                </a:solidFill>
                <a:latin typeface="Calibri"/>
              </a:rPr>
              <a:t>[2] Hart, P. E., Nilsson, N. J. &amp; Raphael, B. (1968). A Formal Basis for the Heuristic Determination of Minimum Cost Paths. IEEE Trans. Systems Science and Cybernetics, 4(2), 100–107.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F6973"/>
                </a:solidFill>
                <a:latin typeface="Calibri"/>
              </a:rPr>
              <a:t>[3] Stentz, A. (1994). Optimal and Efficient Path Planning for Partially-Known Environments. Proc. IEEE ICRA, 3310–3317.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F6973"/>
                </a:solidFill>
                <a:latin typeface="Calibri"/>
              </a:rPr>
              <a:t>[4] Koenig, S. &amp; Likhachev, M. (2002). D* Lite. Proc. AAAI, 476–483.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F6973"/>
                </a:solidFill>
                <a:latin typeface="Calibri"/>
              </a:rPr>
              <a:t>[5] Harabor, D. &amp; Grastien, A. (2011). Online Graph Pruning for Pathfinding on Grid Maps. Proc. AAAI, 1114–1119.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F6973"/>
                </a:solidFill>
                <a:latin typeface="Calibri"/>
              </a:rPr>
              <a:t>[6] Sturtevant, N. R. (2012). Benchmarks for Grid-Based Pathfinding. IEEE Trans. Computational Intelligence and AI in Games, 4(2), 144–148.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5F6973"/>
                </a:solidFill>
                <a:latin typeface="Calibri"/>
              </a:rPr>
              <a:t>[7] Russell, S. &amp; Norvig, P. (2021). Artificial Intelligence: A Modern Approach (4th ed.). Pearson.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