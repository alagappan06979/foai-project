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jpg" ContentType="image/jp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386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7725" y="554106"/>
            <a:ext cx="4644356" cy="1050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5282" y="329641"/>
            <a:ext cx="8441435" cy="1299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386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4020" y="1786509"/>
            <a:ext cx="11563959" cy="4494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9344" y="6466738"/>
            <a:ext cx="39033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9057" y="554106"/>
            <a:ext cx="3422771" cy="10501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82544" y="1593860"/>
            <a:ext cx="6163310" cy="139827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75285" marR="5080" indent="-363220">
              <a:lnSpc>
                <a:spcPct val="112599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Times New Roman"/>
                <a:cs typeface="Times New Roman"/>
              </a:rPr>
              <a:t>Department</a:t>
            </a:r>
            <a:r>
              <a:rPr dirty="0" sz="4000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dirty="0" sz="4000" spc="-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000000"/>
                </a:solidFill>
                <a:latin typeface="Times New Roman"/>
                <a:cs typeface="Times New Roman"/>
              </a:rPr>
              <a:t>Cyber</a:t>
            </a:r>
            <a:r>
              <a:rPr dirty="0" sz="4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000000"/>
                </a:solidFill>
                <a:latin typeface="Times New Roman"/>
                <a:cs typeface="Times New Roman"/>
              </a:rPr>
              <a:t>Security </a:t>
            </a:r>
            <a:r>
              <a:rPr dirty="0" sz="4000">
                <a:solidFill>
                  <a:srgbClr val="000000"/>
                </a:solidFill>
                <a:latin typeface="Times New Roman"/>
                <a:cs typeface="Times New Roman"/>
              </a:rPr>
              <a:t>2026-2027-</a:t>
            </a:r>
            <a:r>
              <a:rPr dirty="0" sz="4000" spc="-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000000"/>
                </a:solidFill>
                <a:latin typeface="Times New Roman"/>
                <a:cs typeface="Times New Roman"/>
              </a:rPr>
              <a:t>Odd</a:t>
            </a:r>
            <a:r>
              <a:rPr dirty="0" sz="4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000000"/>
                </a:solidFill>
                <a:latin typeface="Times New Roman"/>
                <a:cs typeface="Times New Roman"/>
              </a:rPr>
              <a:t>Semester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7055" y="2938603"/>
            <a:ext cx="7894320" cy="192849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algn="ctr" marL="571500">
              <a:lnSpc>
                <a:spcPct val="100000"/>
              </a:lnSpc>
              <a:spcBef>
                <a:spcPts val="915"/>
              </a:spcBef>
            </a:pPr>
            <a:r>
              <a:rPr dirty="0" sz="4000">
                <a:latin typeface="Times New Roman"/>
                <a:cs typeface="Times New Roman"/>
              </a:rPr>
              <a:t>III</a:t>
            </a:r>
            <a:r>
              <a:rPr dirty="0" sz="4000" spc="-235">
                <a:latin typeface="Times New Roman"/>
                <a:cs typeface="Times New Roman"/>
              </a:rPr>
              <a:t> </a:t>
            </a:r>
            <a:r>
              <a:rPr dirty="0" sz="4000" spc="-60">
                <a:latin typeface="Times New Roman"/>
                <a:cs typeface="Times New Roman"/>
              </a:rPr>
              <a:t>Year</a:t>
            </a:r>
            <a:r>
              <a:rPr dirty="0" sz="4000" spc="-9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/V</a:t>
            </a:r>
            <a:r>
              <a:rPr dirty="0" sz="4000" spc="-165">
                <a:latin typeface="Times New Roman"/>
                <a:cs typeface="Times New Roman"/>
              </a:rPr>
              <a:t> </a:t>
            </a:r>
            <a:r>
              <a:rPr dirty="0" sz="4000" spc="-25">
                <a:latin typeface="Times New Roman"/>
                <a:cs typeface="Times New Roman"/>
              </a:rPr>
              <a:t>Sem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800" spc="-25" b="1">
                <a:latin typeface="Calibri"/>
                <a:cs typeface="Calibri"/>
              </a:rPr>
              <a:t>CS23533-FOUNDATIONS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OF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ARTIFICIAL</a:t>
            </a:r>
            <a:r>
              <a:rPr dirty="0" sz="2800" spc="-3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INTELLIGENCE</a:t>
            </a:r>
            <a:endParaRPr sz="2800">
              <a:latin typeface="Calibri"/>
              <a:cs typeface="Calibri"/>
            </a:endParaRPr>
          </a:p>
          <a:p>
            <a:pPr algn="ctr" marR="94615">
              <a:lnSpc>
                <a:spcPct val="100000"/>
              </a:lnSpc>
              <a:spcBef>
                <a:spcPts val="625"/>
              </a:spcBef>
            </a:pPr>
            <a:r>
              <a:rPr dirty="0" sz="4000">
                <a:latin typeface="Times New Roman"/>
                <a:cs typeface="Times New Roman"/>
              </a:rPr>
              <a:t>Zeroth</a:t>
            </a:r>
            <a:r>
              <a:rPr dirty="0" sz="4000" spc="-8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Review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–</a:t>
            </a:r>
            <a:r>
              <a:rPr dirty="0" sz="4000" spc="-10">
                <a:latin typeface="Times New Roman"/>
                <a:cs typeface="Times New Roman"/>
              </a:rPr>
              <a:t> 31.07.2026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47665" y="2230069"/>
            <a:ext cx="2451735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PROJECT</a:t>
            </a:r>
            <a:r>
              <a:rPr dirty="0" sz="3200" spc="-1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TITLE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3602" y="3251745"/>
            <a:ext cx="3165475" cy="170561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300"/>
              </a:spcBef>
            </a:pPr>
            <a:r>
              <a:rPr dirty="0" sz="2000" b="1">
                <a:latin typeface="Times New Roman"/>
                <a:cs typeface="Times New Roman"/>
              </a:rPr>
              <a:t>Batch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Members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: </a:t>
            </a:r>
            <a:r>
              <a:rPr dirty="0" sz="2000" spc="-10" b="1">
                <a:latin typeface="Times New Roman"/>
                <a:cs typeface="Times New Roman"/>
              </a:rPr>
              <a:t>1.Name:Reg.no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Alagappan</a:t>
            </a:r>
            <a:r>
              <a:rPr dirty="0" sz="2000" spc="-110" b="1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R </a:t>
            </a:r>
            <a:r>
              <a:rPr dirty="0" sz="2000" spc="-10" b="1">
                <a:latin typeface="Times New Roman"/>
                <a:cs typeface="Times New Roman"/>
              </a:rPr>
              <a:t>241901003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000" spc="-10" b="1">
                <a:latin typeface="Times New Roman"/>
                <a:cs typeface="Times New Roman"/>
              </a:rPr>
              <a:t>2.Name:Reg.no</a:t>
            </a:r>
            <a:r>
              <a:rPr dirty="0" sz="2000" spc="-1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Aswin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J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10" b="1">
                <a:latin typeface="Times New Roman"/>
                <a:cs typeface="Times New Roman"/>
              </a:rPr>
              <a:t>241901010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9435" y="3180892"/>
            <a:ext cx="1757045" cy="121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9385">
              <a:lnSpc>
                <a:spcPct val="141100"/>
              </a:lnSpc>
              <a:spcBef>
                <a:spcPts val="100"/>
              </a:spcBef>
            </a:pPr>
            <a:r>
              <a:rPr dirty="0" sz="2000" spc="-10" b="1">
                <a:latin typeface="Times New Roman"/>
                <a:cs typeface="Times New Roman"/>
              </a:rPr>
              <a:t>Supervisor: </a:t>
            </a:r>
            <a:r>
              <a:rPr dirty="0" sz="2000" spc="-45" b="1">
                <a:latin typeface="Times New Roman"/>
                <a:cs typeface="Times New Roman"/>
              </a:rPr>
              <a:t>Dr.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S.Bhuvana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350" spc="-10" b="1">
                <a:latin typeface="Times New Roman"/>
                <a:cs typeface="Times New Roman"/>
              </a:rPr>
              <a:t>Assistant</a:t>
            </a:r>
            <a:r>
              <a:rPr dirty="0" sz="1350" spc="-20" b="1">
                <a:latin typeface="Times New Roman"/>
                <a:cs typeface="Times New Roman"/>
              </a:rPr>
              <a:t> </a:t>
            </a:r>
            <a:r>
              <a:rPr dirty="0" sz="1350" spc="-10" b="1">
                <a:latin typeface="Times New Roman"/>
                <a:cs typeface="Times New Roman"/>
              </a:rPr>
              <a:t>Professor[SG]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8576" rIns="0" bIns="0" rtlCol="0" vert="horz">
            <a:spAutoFit/>
          </a:bodyPr>
          <a:lstStyle/>
          <a:p>
            <a:pPr marL="2935605">
              <a:lnSpc>
                <a:spcPct val="100000"/>
              </a:lnSpc>
              <a:spcBef>
                <a:spcPts val="95"/>
              </a:spcBef>
            </a:pPr>
            <a:r>
              <a:rPr dirty="0" spc="-10" b="1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016" y="1851100"/>
            <a:ext cx="4088765" cy="41287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 spc="-10">
                <a:latin typeface="Times New Roman"/>
                <a:cs typeface="Times New Roman"/>
              </a:rPr>
              <a:t>Abstract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 spc="-10">
                <a:latin typeface="Times New Roman"/>
                <a:cs typeface="Times New Roman"/>
              </a:rPr>
              <a:t>Objective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Literature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Survey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Summary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Literature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Proposed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&amp;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Novelty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8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Block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Diagram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 spc="-10">
                <a:latin typeface="Times New Roman"/>
                <a:cs typeface="Times New Roman"/>
              </a:rPr>
              <a:t>Hardware/Software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requirements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 spc="-10">
                <a:latin typeface="Times New Roman"/>
                <a:cs typeface="Times New Roman"/>
              </a:rPr>
              <a:t>References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51934" y="631393"/>
            <a:ext cx="309308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1">
                <a:latin typeface="Arial"/>
                <a:cs typeface="Arial"/>
              </a:rPr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261059"/>
            <a:ext cx="10365105" cy="455866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just" marL="12700" marR="5715">
              <a:lnSpc>
                <a:spcPct val="90100"/>
              </a:lnSpc>
              <a:spcBef>
                <a:spcPts val="300"/>
              </a:spcBef>
            </a:pP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Intelligent</a:t>
            </a:r>
            <a:r>
              <a:rPr dirty="0" sz="1600" spc="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</a:t>
            </a:r>
            <a:r>
              <a:rPr dirty="0" sz="1600" spc="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Solver</a:t>
            </a:r>
            <a:r>
              <a:rPr dirty="0" sz="1600" spc="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is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Artificial</a:t>
            </a:r>
            <a:r>
              <a:rPr dirty="0" sz="1600" spc="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Intelligence</a:t>
            </a:r>
            <a:r>
              <a:rPr dirty="0" sz="1600" spc="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project</a:t>
            </a:r>
            <a:r>
              <a:rPr dirty="0" sz="1600" spc="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that</a:t>
            </a:r>
            <a:r>
              <a:rPr dirty="0" sz="1600" spc="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finds</a:t>
            </a:r>
            <a:r>
              <a:rPr dirty="0" sz="1600" spc="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optimal</a:t>
            </a:r>
            <a:r>
              <a:rPr dirty="0" sz="1600" spc="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</a:t>
            </a:r>
            <a:r>
              <a:rPr dirty="0" sz="1600" spc="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from</a:t>
            </a:r>
            <a:r>
              <a:rPr dirty="0" sz="1600" spc="10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starting</a:t>
            </a:r>
            <a:r>
              <a:rPr dirty="0" sz="1600" spc="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point</a:t>
            </a:r>
            <a:r>
              <a:rPr dirty="0" sz="1600" spc="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65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a </a:t>
            </a:r>
            <a:r>
              <a:rPr dirty="0" sz="1600">
                <a:latin typeface="Arial"/>
                <a:cs typeface="Arial"/>
              </a:rPr>
              <a:t>destination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1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11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AI-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search</a:t>
            </a:r>
            <a:r>
              <a:rPr dirty="0" sz="1600" spc="1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techniques.</a:t>
            </a:r>
            <a:r>
              <a:rPr dirty="0" sz="1600" spc="1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It</a:t>
            </a:r>
            <a:r>
              <a:rPr dirty="0" sz="1600" spc="1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employs</a:t>
            </a:r>
            <a:r>
              <a:rPr dirty="0" sz="1600" spc="1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algorithms</a:t>
            </a:r>
            <a:r>
              <a:rPr dirty="0" sz="1600" spc="1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such</a:t>
            </a:r>
            <a:r>
              <a:rPr dirty="0" sz="1600" spc="1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</a:t>
            </a:r>
            <a:r>
              <a:rPr dirty="0" sz="1600" spc="1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A*</a:t>
            </a:r>
            <a:r>
              <a:rPr dirty="0" sz="1600" spc="1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Search </a:t>
            </a:r>
            <a:r>
              <a:rPr dirty="0" sz="1600">
                <a:latin typeface="Arial"/>
                <a:cs typeface="Arial"/>
              </a:rPr>
              <a:t>and </a:t>
            </a:r>
            <a:r>
              <a:rPr dirty="0" sz="1600" spc="-20">
                <a:latin typeface="Arial"/>
                <a:cs typeface="Arial"/>
              </a:rPr>
              <a:t>Q-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enable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intelligent</a:t>
            </a:r>
            <a:r>
              <a:rPr dirty="0" sz="1600" spc="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agent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navigate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complex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 environments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efficiently.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Unlike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traditional </a:t>
            </a:r>
            <a:r>
              <a:rPr dirty="0" sz="1600">
                <a:latin typeface="Arial"/>
                <a:cs typeface="Arial"/>
              </a:rPr>
              <a:t>pathfinding</a:t>
            </a:r>
            <a:r>
              <a:rPr dirty="0" sz="1600" spc="2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methods</a:t>
            </a:r>
            <a:r>
              <a:rPr dirty="0" sz="1600" spc="2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that</a:t>
            </a:r>
            <a:r>
              <a:rPr dirty="0" sz="1600" spc="2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rely</a:t>
            </a:r>
            <a:r>
              <a:rPr dirty="0" sz="1600" spc="2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2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fixed</a:t>
            </a:r>
            <a:r>
              <a:rPr dirty="0" sz="1600" spc="2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search</a:t>
            </a:r>
            <a:r>
              <a:rPr dirty="0" sz="1600" spc="2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patterns,</a:t>
            </a:r>
            <a:r>
              <a:rPr dirty="0" sz="1600" spc="2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2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AI</a:t>
            </a:r>
            <a:r>
              <a:rPr dirty="0" sz="1600" spc="2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agent</a:t>
            </a:r>
            <a:r>
              <a:rPr dirty="0" sz="1600" spc="30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uses</a:t>
            </a:r>
            <a:r>
              <a:rPr dirty="0" sz="1600" spc="2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heuristic</a:t>
            </a:r>
            <a:r>
              <a:rPr dirty="0" sz="1600" spc="2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information</a:t>
            </a:r>
            <a:r>
              <a:rPr dirty="0" sz="1600" spc="2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2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learns</a:t>
            </a:r>
            <a:r>
              <a:rPr dirty="0" sz="1600" spc="27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from </a:t>
            </a:r>
            <a:r>
              <a:rPr dirty="0" sz="1600">
                <a:latin typeface="Arial"/>
                <a:cs typeface="Arial"/>
              </a:rPr>
              <a:t>experience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make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better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navigation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decisions.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90100"/>
              </a:lnSpc>
              <a:spcBef>
                <a:spcPts val="1005"/>
              </a:spcBef>
            </a:pP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system</a:t>
            </a:r>
            <a:r>
              <a:rPr dirty="0" sz="1600" spc="1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represents</a:t>
            </a:r>
            <a:r>
              <a:rPr dirty="0" sz="1600" spc="1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</a:t>
            </a:r>
            <a:r>
              <a:rPr dirty="0" sz="1600" spc="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</a:t>
            </a:r>
            <a:r>
              <a:rPr dirty="0" sz="1600" spc="1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two-</a:t>
            </a:r>
            <a:r>
              <a:rPr dirty="0" sz="1600">
                <a:latin typeface="Arial"/>
                <a:cs typeface="Arial"/>
              </a:rPr>
              <a:t>dimensional</a:t>
            </a:r>
            <a:r>
              <a:rPr dirty="0" sz="1600" spc="1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grid</a:t>
            </a:r>
            <a:r>
              <a:rPr dirty="0" sz="1600" spc="1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consisting</a:t>
            </a:r>
            <a:r>
              <a:rPr dirty="0" sz="1600" spc="1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1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walls,</a:t>
            </a:r>
            <a:r>
              <a:rPr dirty="0" sz="1600" spc="1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open</a:t>
            </a:r>
            <a:r>
              <a:rPr dirty="0" sz="1600" spc="1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paths,</a:t>
            </a:r>
            <a:r>
              <a:rPr dirty="0" sz="1600" spc="1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1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start</a:t>
            </a:r>
            <a:r>
              <a:rPr dirty="0" sz="1600" spc="1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point,</a:t>
            </a:r>
            <a:r>
              <a:rPr dirty="0" sz="1600" spc="1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a </a:t>
            </a:r>
            <a:r>
              <a:rPr dirty="0" sz="1600">
                <a:latin typeface="Arial"/>
                <a:cs typeface="Arial"/>
              </a:rPr>
              <a:t>goal</a:t>
            </a:r>
            <a:r>
              <a:rPr dirty="0" sz="1600" spc="114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point.</a:t>
            </a:r>
            <a:r>
              <a:rPr dirty="0" sz="1600" spc="1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It</a:t>
            </a:r>
            <a:r>
              <a:rPr dirty="0" sz="1600" spc="1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explores</a:t>
            </a:r>
            <a:r>
              <a:rPr dirty="0" sz="1600" spc="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possible</a:t>
            </a:r>
            <a:r>
              <a:rPr dirty="0" sz="1600" spc="10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routes,</a:t>
            </a:r>
            <a:r>
              <a:rPr dirty="0" sz="1600" spc="1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avoids</a:t>
            </a:r>
            <a:r>
              <a:rPr dirty="0" sz="1600" spc="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obstacles,</a:t>
            </a:r>
            <a:r>
              <a:rPr dirty="0" sz="1600" spc="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1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identifies</a:t>
            </a:r>
            <a:r>
              <a:rPr dirty="0" sz="1600" spc="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shortest</a:t>
            </a:r>
            <a:r>
              <a:rPr dirty="0" sz="1600" spc="1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most</a:t>
            </a:r>
            <a:r>
              <a:rPr dirty="0" sz="1600" spc="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efficient</a:t>
            </a:r>
            <a:r>
              <a:rPr dirty="0" sz="1600" spc="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</a:t>
            </a:r>
            <a:r>
              <a:rPr dirty="0" sz="1600" spc="11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while </a:t>
            </a:r>
            <a:r>
              <a:rPr dirty="0" sz="1600">
                <a:latin typeface="Arial"/>
                <a:cs typeface="Arial"/>
              </a:rPr>
              <a:t>minimizing</a:t>
            </a:r>
            <a:r>
              <a:rPr dirty="0" sz="1600" spc="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travel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time</a:t>
            </a:r>
            <a:r>
              <a:rPr dirty="0" sz="1600" spc="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distance.</a:t>
            </a:r>
            <a:r>
              <a:rPr dirty="0" sz="1600" spc="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graphical</a:t>
            </a:r>
            <a:r>
              <a:rPr dirty="0" sz="1600" spc="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interface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displays</a:t>
            </a:r>
            <a:r>
              <a:rPr dirty="0" sz="1600" spc="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maze,</a:t>
            </a:r>
            <a:r>
              <a:rPr dirty="0" sz="1600" spc="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agent's</a:t>
            </a:r>
            <a:r>
              <a:rPr dirty="0" sz="1600" spc="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exploration</a:t>
            </a:r>
            <a:r>
              <a:rPr dirty="0" sz="1600" spc="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process,</a:t>
            </a:r>
            <a:r>
              <a:rPr dirty="0" sz="1600" spc="5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and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4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final</a:t>
            </a:r>
            <a:r>
              <a:rPr dirty="0" sz="1600" spc="4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solution,</a:t>
            </a:r>
            <a:r>
              <a:rPr dirty="0" sz="1600" spc="4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making</a:t>
            </a:r>
            <a:r>
              <a:rPr dirty="0" sz="1600" spc="434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it</a:t>
            </a:r>
            <a:r>
              <a:rPr dirty="0" sz="1600" spc="4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easier</a:t>
            </a:r>
            <a:r>
              <a:rPr dirty="0" sz="1600" spc="4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434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understand</a:t>
            </a:r>
            <a:r>
              <a:rPr dirty="0" sz="1600" spc="434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how</a:t>
            </a:r>
            <a:r>
              <a:rPr dirty="0" sz="1600" spc="4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434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algorithms</a:t>
            </a:r>
            <a:r>
              <a:rPr dirty="0" sz="1600" spc="4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work</a:t>
            </a:r>
            <a:r>
              <a:rPr dirty="0" sz="1600" spc="4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4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how</a:t>
            </a:r>
            <a:r>
              <a:rPr dirty="0" sz="1600" spc="4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4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agent</a:t>
            </a:r>
            <a:r>
              <a:rPr dirty="0" sz="1600" spc="4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reaches</a:t>
            </a:r>
            <a:r>
              <a:rPr dirty="0" sz="1600" spc="45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its </a:t>
            </a:r>
            <a:r>
              <a:rPr dirty="0" sz="1600" spc="-10">
                <a:latin typeface="Arial"/>
                <a:cs typeface="Arial"/>
              </a:rPr>
              <a:t>destination.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89400"/>
              </a:lnSpc>
              <a:spcBef>
                <a:spcPts val="994"/>
              </a:spcBef>
            </a:pPr>
            <a:r>
              <a:rPr dirty="0" sz="1600">
                <a:latin typeface="Arial"/>
                <a:cs typeface="Arial"/>
              </a:rPr>
              <a:t>This</a:t>
            </a:r>
            <a:r>
              <a:rPr dirty="0" sz="1600" spc="114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project</a:t>
            </a:r>
            <a:r>
              <a:rPr dirty="0" sz="1600" spc="12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demonstrates</a:t>
            </a:r>
            <a:r>
              <a:rPr dirty="0" sz="1600" spc="12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important</a:t>
            </a:r>
            <a:r>
              <a:rPr dirty="0" sz="1600" spc="12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Artificial</a:t>
            </a:r>
            <a:r>
              <a:rPr dirty="0" sz="1600" spc="11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Intelligence</a:t>
            </a:r>
            <a:r>
              <a:rPr dirty="0" sz="1600" spc="10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concepts,</a:t>
            </a:r>
            <a:r>
              <a:rPr dirty="0" sz="1600" spc="11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including</a:t>
            </a:r>
            <a:r>
              <a:rPr dirty="0" sz="1600" spc="10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search</a:t>
            </a:r>
            <a:r>
              <a:rPr dirty="0" sz="1600" spc="114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algorithms,</a:t>
            </a:r>
            <a:r>
              <a:rPr dirty="0" sz="1600" spc="120">
                <a:latin typeface="Arial"/>
                <a:cs typeface="Arial"/>
              </a:rPr>
              <a:t>  </a:t>
            </a:r>
            <a:r>
              <a:rPr dirty="0" sz="1600" spc="-10">
                <a:latin typeface="Arial"/>
                <a:cs typeface="Arial"/>
              </a:rPr>
              <a:t>heuristic </a:t>
            </a:r>
            <a:r>
              <a:rPr dirty="0" sz="1600">
                <a:latin typeface="Arial"/>
                <a:cs typeface="Arial"/>
              </a:rPr>
              <a:t>optimization,</a:t>
            </a:r>
            <a:r>
              <a:rPr dirty="0" sz="1600" spc="38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decision-</a:t>
            </a:r>
            <a:r>
              <a:rPr dirty="0" sz="1600">
                <a:latin typeface="Arial"/>
                <a:cs typeface="Arial"/>
              </a:rPr>
              <a:t>making,</a:t>
            </a:r>
            <a:r>
              <a:rPr dirty="0" sz="1600" spc="3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3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autonomous</a:t>
            </a:r>
            <a:r>
              <a:rPr dirty="0" sz="1600" spc="36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problem-</a:t>
            </a:r>
            <a:r>
              <a:rPr dirty="0" sz="1600">
                <a:latin typeface="Arial"/>
                <a:cs typeface="Arial"/>
              </a:rPr>
              <a:t>solving.</a:t>
            </a:r>
            <a:r>
              <a:rPr dirty="0" sz="1600" spc="3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Its</a:t>
            </a:r>
            <a:r>
              <a:rPr dirty="0" sz="1600" spc="3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applications</a:t>
            </a:r>
            <a:r>
              <a:rPr dirty="0" sz="1600" spc="3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extend</a:t>
            </a:r>
            <a:r>
              <a:rPr dirty="0" sz="1600" spc="3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3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robotic</a:t>
            </a:r>
            <a:r>
              <a:rPr dirty="0" sz="1600" spc="3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navigation, </a:t>
            </a:r>
            <a:r>
              <a:rPr dirty="0" sz="1600">
                <a:latin typeface="Arial"/>
                <a:cs typeface="Arial"/>
              </a:rPr>
              <a:t>autonomous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vehicles,</a:t>
            </a:r>
            <a:r>
              <a:rPr dirty="0" sz="1600" spc="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game</a:t>
            </a:r>
            <a:r>
              <a:rPr dirty="0" sz="1600" spc="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development,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logistics,</a:t>
            </a:r>
            <a:r>
              <a:rPr dirty="0" sz="1600" spc="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route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optimization.</a:t>
            </a:r>
            <a:r>
              <a:rPr dirty="0" sz="1600" spc="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Intelligent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</a:t>
            </a:r>
            <a:r>
              <a:rPr dirty="0" sz="1600" spc="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Solver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serves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as </a:t>
            </a:r>
            <a:r>
              <a:rPr dirty="0" sz="1600">
                <a:latin typeface="Arial"/>
                <a:cs typeface="Arial"/>
              </a:rPr>
              <a:t>an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effective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platform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AI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techniques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while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showcasing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their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practical use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solving</a:t>
            </a:r>
            <a:r>
              <a:rPr dirty="0" sz="1600" spc="-20">
                <a:latin typeface="Arial"/>
                <a:cs typeface="Arial"/>
              </a:rPr>
              <a:t> real-</a:t>
            </a:r>
            <a:r>
              <a:rPr dirty="0" sz="1600">
                <a:latin typeface="Arial"/>
                <a:cs typeface="Arial"/>
              </a:rPr>
              <a:t>world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navigation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pathfinding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challenges</a:t>
            </a:r>
            <a:r>
              <a:rPr dirty="0" sz="1600" spc="-1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000" spc="-10" b="1">
                <a:latin typeface="Arial"/>
                <a:cs typeface="Arial"/>
              </a:rPr>
              <a:t>Keywords</a:t>
            </a:r>
            <a:r>
              <a:rPr dirty="0" sz="1600" spc="-1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12700" marR="5715">
              <a:lnSpc>
                <a:spcPts val="1730"/>
              </a:lnSpc>
              <a:spcBef>
                <a:spcPts val="975"/>
              </a:spcBef>
            </a:pPr>
            <a:r>
              <a:rPr dirty="0" sz="1600" spc="-10">
                <a:latin typeface="Calibri"/>
                <a:cs typeface="Calibri"/>
              </a:rPr>
              <a:t>ArtificialIntelligence(AI),Maze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Solver,Pathfinding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,A*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Search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Algorithm,Reinforcement </a:t>
            </a:r>
            <a:r>
              <a:rPr dirty="0" sz="1600">
                <a:latin typeface="Calibri"/>
                <a:cs typeface="Calibri"/>
              </a:rPr>
              <a:t>Learning,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Heuristic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Search,Autonomous Navigation,Graph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Search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817" rIns="0" bIns="0" rtlCol="0" vert="horz">
            <a:spAutoFit/>
          </a:bodyPr>
          <a:lstStyle/>
          <a:p>
            <a:pPr marL="2640330">
              <a:lnSpc>
                <a:spcPct val="100000"/>
              </a:lnSpc>
              <a:spcBef>
                <a:spcPts val="95"/>
              </a:spcBef>
            </a:pPr>
            <a:r>
              <a:rPr dirty="0" spc="-10" b="1">
                <a:latin typeface="Arial"/>
                <a:cs typeface="Arial"/>
              </a:rPr>
              <a:t>OBJECTIVE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marL="615315" marR="6985">
              <a:lnSpc>
                <a:spcPts val="2020"/>
              </a:lnSpc>
              <a:spcBef>
                <a:spcPts val="595"/>
              </a:spcBef>
            </a:pPr>
            <a:r>
              <a:rPr dirty="0" sz="2100" spc="-35">
                <a:latin typeface="Wingdings"/>
                <a:cs typeface="Wingdings"/>
              </a:rPr>
              <a:t></a:t>
            </a:r>
            <a:r>
              <a:rPr dirty="0" sz="2100" spc="-35"/>
              <a:t>To</a:t>
            </a:r>
            <a:r>
              <a:rPr dirty="0" sz="2100" spc="15"/>
              <a:t> </a:t>
            </a:r>
            <a:r>
              <a:rPr dirty="0" sz="2100"/>
              <a:t>develop</a:t>
            </a:r>
            <a:r>
              <a:rPr dirty="0" sz="2100" spc="20"/>
              <a:t> </a:t>
            </a:r>
            <a:r>
              <a:rPr dirty="0" sz="2100"/>
              <a:t>an</a:t>
            </a:r>
            <a:r>
              <a:rPr dirty="0" sz="2100" spc="15"/>
              <a:t> </a:t>
            </a:r>
            <a:r>
              <a:rPr dirty="0" sz="2100"/>
              <a:t>intelligent</a:t>
            </a:r>
            <a:r>
              <a:rPr dirty="0" sz="2100" spc="-5"/>
              <a:t> </a:t>
            </a:r>
            <a:r>
              <a:rPr dirty="0" sz="2100"/>
              <a:t>navigation</a:t>
            </a:r>
            <a:r>
              <a:rPr dirty="0" sz="2100" spc="15"/>
              <a:t> </a:t>
            </a:r>
            <a:r>
              <a:rPr dirty="0" sz="2100"/>
              <a:t>system</a:t>
            </a:r>
            <a:r>
              <a:rPr dirty="0" sz="2100" spc="25"/>
              <a:t> </a:t>
            </a:r>
            <a:r>
              <a:rPr dirty="0" sz="2100"/>
              <a:t>that</a:t>
            </a:r>
            <a:r>
              <a:rPr dirty="0" sz="2100" spc="5"/>
              <a:t> </a:t>
            </a:r>
            <a:r>
              <a:rPr dirty="0" sz="2100"/>
              <a:t>can</a:t>
            </a:r>
            <a:r>
              <a:rPr dirty="0" sz="2100" spc="15"/>
              <a:t> </a:t>
            </a:r>
            <a:r>
              <a:rPr dirty="0" sz="2100"/>
              <a:t>efficiently find</a:t>
            </a:r>
            <a:r>
              <a:rPr dirty="0" sz="2100" spc="20"/>
              <a:t> </a:t>
            </a:r>
            <a:r>
              <a:rPr dirty="0" sz="2100"/>
              <a:t>the</a:t>
            </a:r>
            <a:r>
              <a:rPr dirty="0" sz="2100" spc="20"/>
              <a:t> </a:t>
            </a:r>
            <a:r>
              <a:rPr dirty="0" sz="2100"/>
              <a:t>optimal</a:t>
            </a:r>
            <a:r>
              <a:rPr dirty="0" sz="2100" spc="25"/>
              <a:t> </a:t>
            </a:r>
            <a:r>
              <a:rPr dirty="0" sz="2100"/>
              <a:t>path</a:t>
            </a:r>
            <a:r>
              <a:rPr dirty="0" sz="2100" spc="15"/>
              <a:t> </a:t>
            </a:r>
            <a:r>
              <a:rPr dirty="0" sz="2100"/>
              <a:t>from</a:t>
            </a:r>
            <a:r>
              <a:rPr dirty="0" sz="2100" spc="35"/>
              <a:t> </a:t>
            </a:r>
            <a:r>
              <a:rPr dirty="0" sz="2100" spc="-50"/>
              <a:t>a </a:t>
            </a:r>
            <a:r>
              <a:rPr dirty="0" sz="2100"/>
              <a:t>starting</a:t>
            </a:r>
            <a:r>
              <a:rPr dirty="0" sz="2100" spc="-15"/>
              <a:t> </a:t>
            </a:r>
            <a:r>
              <a:rPr dirty="0" sz="2100"/>
              <a:t>point</a:t>
            </a:r>
            <a:r>
              <a:rPr dirty="0" sz="2100" spc="-50"/>
              <a:t> </a:t>
            </a:r>
            <a:r>
              <a:rPr dirty="0" sz="2100"/>
              <a:t>to</a:t>
            </a:r>
            <a:r>
              <a:rPr dirty="0" sz="2100" spc="25"/>
              <a:t> </a:t>
            </a:r>
            <a:r>
              <a:rPr dirty="0" sz="2100"/>
              <a:t>a</a:t>
            </a:r>
            <a:r>
              <a:rPr dirty="0" sz="2100" spc="5"/>
              <a:t> </a:t>
            </a:r>
            <a:r>
              <a:rPr dirty="0" sz="2100"/>
              <a:t>destination</a:t>
            </a:r>
            <a:r>
              <a:rPr dirty="0" sz="2100" spc="-80"/>
              <a:t> </a:t>
            </a:r>
            <a:r>
              <a:rPr dirty="0" sz="2100"/>
              <a:t>in</a:t>
            </a:r>
            <a:r>
              <a:rPr dirty="0" sz="2100" spc="-15"/>
              <a:t> </a:t>
            </a:r>
            <a:r>
              <a:rPr dirty="0" sz="2100"/>
              <a:t>a</a:t>
            </a:r>
            <a:r>
              <a:rPr dirty="0" sz="2100" spc="5"/>
              <a:t> </a:t>
            </a:r>
            <a:r>
              <a:rPr dirty="0" sz="2100"/>
              <a:t>maze</a:t>
            </a:r>
            <a:r>
              <a:rPr dirty="0" sz="2100" spc="-20"/>
              <a:t> </a:t>
            </a:r>
            <a:r>
              <a:rPr dirty="0" sz="2100"/>
              <a:t>using</a:t>
            </a:r>
            <a:r>
              <a:rPr dirty="0" sz="2100" spc="-160"/>
              <a:t> </a:t>
            </a:r>
            <a:r>
              <a:rPr dirty="0" sz="2100"/>
              <a:t>Artificial</a:t>
            </a:r>
            <a:r>
              <a:rPr dirty="0" sz="2100" spc="-70"/>
              <a:t> </a:t>
            </a:r>
            <a:r>
              <a:rPr dirty="0" sz="2100"/>
              <a:t>Intelligence</a:t>
            </a:r>
            <a:r>
              <a:rPr dirty="0" sz="2100" spc="-55"/>
              <a:t> </a:t>
            </a:r>
            <a:r>
              <a:rPr dirty="0" sz="2100" spc="-10"/>
              <a:t>techniques.</a:t>
            </a:r>
            <a:endParaRPr sz="2100">
              <a:latin typeface="Wingdings"/>
              <a:cs typeface="Wingdings"/>
            </a:endParaRPr>
          </a:p>
          <a:p>
            <a:pPr marL="615315" marR="6350">
              <a:lnSpc>
                <a:spcPts val="2020"/>
              </a:lnSpc>
              <a:spcBef>
                <a:spcPts val="1000"/>
              </a:spcBef>
            </a:pPr>
            <a:r>
              <a:rPr dirty="0" sz="2100">
                <a:latin typeface="Wingdings"/>
                <a:cs typeface="Wingdings"/>
              </a:rPr>
              <a:t></a:t>
            </a:r>
            <a:r>
              <a:rPr dirty="0" sz="2100"/>
              <a:t>To</a:t>
            </a:r>
            <a:r>
              <a:rPr dirty="0" sz="2100" spc="455"/>
              <a:t> </a:t>
            </a:r>
            <a:r>
              <a:rPr dirty="0" sz="2100"/>
              <a:t>implement</a:t>
            </a:r>
            <a:r>
              <a:rPr dirty="0" sz="2100" spc="445"/>
              <a:t> </a:t>
            </a:r>
            <a:r>
              <a:rPr dirty="0" sz="2100" spc="-10"/>
              <a:t>AI-</a:t>
            </a:r>
            <a:r>
              <a:rPr dirty="0" sz="2100"/>
              <a:t>based</a:t>
            </a:r>
            <a:r>
              <a:rPr dirty="0" sz="2100" spc="434"/>
              <a:t> </a:t>
            </a:r>
            <a:r>
              <a:rPr dirty="0" sz="2100"/>
              <a:t>pathfinding</a:t>
            </a:r>
            <a:r>
              <a:rPr dirty="0" sz="2100" spc="430"/>
              <a:t> </a:t>
            </a:r>
            <a:r>
              <a:rPr dirty="0" sz="2100"/>
              <a:t>algorithms</a:t>
            </a:r>
            <a:r>
              <a:rPr dirty="0" sz="2100" spc="434"/>
              <a:t> </a:t>
            </a:r>
            <a:r>
              <a:rPr dirty="0" sz="2100"/>
              <a:t>such</a:t>
            </a:r>
            <a:r>
              <a:rPr dirty="0" sz="2100" spc="434"/>
              <a:t> </a:t>
            </a:r>
            <a:r>
              <a:rPr dirty="0" sz="2100"/>
              <a:t>as</a:t>
            </a:r>
            <a:r>
              <a:rPr dirty="0" sz="2100" spc="440"/>
              <a:t> </a:t>
            </a:r>
            <a:r>
              <a:rPr dirty="0" sz="2100"/>
              <a:t>A*</a:t>
            </a:r>
            <a:r>
              <a:rPr dirty="0" sz="2100" spc="450"/>
              <a:t> </a:t>
            </a:r>
            <a:r>
              <a:rPr dirty="0" sz="2100"/>
              <a:t>Search</a:t>
            </a:r>
            <a:r>
              <a:rPr dirty="0" sz="2100" spc="459"/>
              <a:t> </a:t>
            </a:r>
            <a:r>
              <a:rPr dirty="0" sz="2100"/>
              <a:t>and</a:t>
            </a:r>
            <a:r>
              <a:rPr dirty="0" sz="2100" spc="455"/>
              <a:t> </a:t>
            </a:r>
            <a:r>
              <a:rPr dirty="0" sz="2100" spc="-20"/>
              <a:t>Q-</a:t>
            </a:r>
            <a:r>
              <a:rPr dirty="0" sz="2100"/>
              <a:t>Learning</a:t>
            </a:r>
            <a:r>
              <a:rPr dirty="0" sz="2100" spc="450"/>
              <a:t> </a:t>
            </a:r>
            <a:r>
              <a:rPr dirty="0" sz="2100" spc="-25"/>
              <a:t>for </a:t>
            </a:r>
            <a:r>
              <a:rPr dirty="0" sz="2100"/>
              <a:t>accurate,</a:t>
            </a:r>
            <a:r>
              <a:rPr dirty="0" sz="2100" spc="-55"/>
              <a:t> </a:t>
            </a:r>
            <a:r>
              <a:rPr dirty="0" sz="2100"/>
              <a:t>efficient,</a:t>
            </a:r>
            <a:r>
              <a:rPr dirty="0" sz="2100" spc="-65"/>
              <a:t> </a:t>
            </a:r>
            <a:r>
              <a:rPr dirty="0" sz="2100"/>
              <a:t>and</a:t>
            </a:r>
            <a:r>
              <a:rPr dirty="0" sz="2100" spc="-35"/>
              <a:t> </a:t>
            </a:r>
            <a:r>
              <a:rPr dirty="0" sz="2100"/>
              <a:t>intelligent</a:t>
            </a:r>
            <a:r>
              <a:rPr dirty="0" sz="2100" spc="-60"/>
              <a:t> </a:t>
            </a:r>
            <a:r>
              <a:rPr dirty="0" sz="2100"/>
              <a:t>route</a:t>
            </a:r>
            <a:r>
              <a:rPr dirty="0" sz="2100" spc="-35"/>
              <a:t> </a:t>
            </a:r>
            <a:r>
              <a:rPr dirty="0" sz="2100" spc="-10"/>
              <a:t>planning.</a:t>
            </a:r>
            <a:endParaRPr sz="2100">
              <a:latin typeface="Wingdings"/>
              <a:cs typeface="Wingdings"/>
            </a:endParaRPr>
          </a:p>
          <a:p>
            <a:pPr marL="615315" marR="6985">
              <a:lnSpc>
                <a:spcPts val="2020"/>
              </a:lnSpc>
              <a:spcBef>
                <a:spcPts val="980"/>
              </a:spcBef>
            </a:pPr>
            <a:r>
              <a:rPr dirty="0" sz="2100">
                <a:latin typeface="Wingdings"/>
                <a:cs typeface="Wingdings"/>
              </a:rPr>
              <a:t></a:t>
            </a:r>
            <a:r>
              <a:rPr dirty="0" sz="2100"/>
              <a:t>To</a:t>
            </a:r>
            <a:r>
              <a:rPr dirty="0" sz="2100" spc="270"/>
              <a:t> </a:t>
            </a:r>
            <a:r>
              <a:rPr dirty="0" sz="2100"/>
              <a:t>minimize</a:t>
            </a:r>
            <a:r>
              <a:rPr dirty="0" sz="2100" spc="275"/>
              <a:t> </a:t>
            </a:r>
            <a:r>
              <a:rPr dirty="0" sz="2100"/>
              <a:t>travel</a:t>
            </a:r>
            <a:r>
              <a:rPr dirty="0" sz="2100" spc="285"/>
              <a:t> </a:t>
            </a:r>
            <a:r>
              <a:rPr dirty="0" sz="2100"/>
              <a:t>time</a:t>
            </a:r>
            <a:r>
              <a:rPr dirty="0" sz="2100" spc="250"/>
              <a:t> </a:t>
            </a:r>
            <a:r>
              <a:rPr dirty="0" sz="2100"/>
              <a:t>and</a:t>
            </a:r>
            <a:r>
              <a:rPr dirty="0" sz="2100" spc="280"/>
              <a:t> </a:t>
            </a:r>
            <a:r>
              <a:rPr dirty="0" sz="2100"/>
              <a:t>distance</a:t>
            </a:r>
            <a:r>
              <a:rPr dirty="0" sz="2100" spc="280"/>
              <a:t> </a:t>
            </a:r>
            <a:r>
              <a:rPr dirty="0" sz="2100"/>
              <a:t>by</a:t>
            </a:r>
            <a:r>
              <a:rPr dirty="0" sz="2100" spc="250"/>
              <a:t> </a:t>
            </a:r>
            <a:r>
              <a:rPr dirty="0" sz="2100"/>
              <a:t>identifying</a:t>
            </a:r>
            <a:r>
              <a:rPr dirty="0" sz="2100" spc="280"/>
              <a:t> </a:t>
            </a:r>
            <a:r>
              <a:rPr dirty="0" sz="2100"/>
              <a:t>the</a:t>
            </a:r>
            <a:r>
              <a:rPr dirty="0" sz="2100" spc="280"/>
              <a:t> </a:t>
            </a:r>
            <a:r>
              <a:rPr dirty="0" sz="2100"/>
              <a:t>shortest</a:t>
            </a:r>
            <a:r>
              <a:rPr dirty="0" sz="2100" spc="260"/>
              <a:t> </a:t>
            </a:r>
            <a:r>
              <a:rPr dirty="0" sz="2100"/>
              <a:t>and</a:t>
            </a:r>
            <a:r>
              <a:rPr dirty="0" sz="2100" spc="275"/>
              <a:t> </a:t>
            </a:r>
            <a:r>
              <a:rPr dirty="0" sz="2100"/>
              <a:t>most</a:t>
            </a:r>
            <a:r>
              <a:rPr dirty="0" sz="2100" spc="260"/>
              <a:t> </a:t>
            </a:r>
            <a:r>
              <a:rPr dirty="0" sz="2100"/>
              <a:t>efficient</a:t>
            </a:r>
            <a:r>
              <a:rPr dirty="0" sz="2100" spc="270"/>
              <a:t> </a:t>
            </a:r>
            <a:r>
              <a:rPr dirty="0" sz="2100" spc="-20"/>
              <a:t>path </a:t>
            </a:r>
            <a:r>
              <a:rPr dirty="0" sz="2100"/>
              <a:t>while</a:t>
            </a:r>
            <a:r>
              <a:rPr dirty="0" sz="2100" spc="-50"/>
              <a:t> </a:t>
            </a:r>
            <a:r>
              <a:rPr dirty="0" sz="2100"/>
              <a:t>avoiding</a:t>
            </a:r>
            <a:r>
              <a:rPr dirty="0" sz="2100" spc="-15"/>
              <a:t> </a:t>
            </a:r>
            <a:r>
              <a:rPr dirty="0" sz="2100"/>
              <a:t>obstacles</a:t>
            </a:r>
            <a:r>
              <a:rPr dirty="0" sz="2100" spc="-75"/>
              <a:t> </a:t>
            </a:r>
            <a:r>
              <a:rPr dirty="0" sz="2100"/>
              <a:t>within</a:t>
            </a:r>
            <a:r>
              <a:rPr dirty="0" sz="2100" spc="-20"/>
              <a:t> </a:t>
            </a:r>
            <a:r>
              <a:rPr dirty="0" sz="2100"/>
              <a:t>the</a:t>
            </a:r>
            <a:r>
              <a:rPr dirty="0" sz="2100" spc="-25"/>
              <a:t> </a:t>
            </a:r>
            <a:r>
              <a:rPr dirty="0" sz="2100" spc="-10"/>
              <a:t>maze.</a:t>
            </a:r>
            <a:endParaRPr sz="2100">
              <a:latin typeface="Wingdings"/>
              <a:cs typeface="Wingdings"/>
            </a:endParaRPr>
          </a:p>
          <a:p>
            <a:pPr marL="615315" marR="5715">
              <a:lnSpc>
                <a:spcPct val="80000"/>
              </a:lnSpc>
              <a:spcBef>
                <a:spcPts val="1019"/>
              </a:spcBef>
            </a:pPr>
            <a:r>
              <a:rPr dirty="0" sz="2100">
                <a:latin typeface="Wingdings"/>
                <a:cs typeface="Wingdings"/>
              </a:rPr>
              <a:t></a:t>
            </a:r>
            <a:r>
              <a:rPr dirty="0" sz="2100"/>
              <a:t>To</a:t>
            </a:r>
            <a:r>
              <a:rPr dirty="0" sz="2100" spc="195"/>
              <a:t> </a:t>
            </a:r>
            <a:r>
              <a:rPr dirty="0" sz="2100"/>
              <a:t>demonstrate</a:t>
            </a:r>
            <a:r>
              <a:rPr dirty="0" sz="2100" spc="175"/>
              <a:t> </a:t>
            </a:r>
            <a:r>
              <a:rPr dirty="0" sz="2100"/>
              <a:t>AI</a:t>
            </a:r>
            <a:r>
              <a:rPr dirty="0" sz="2100" spc="185"/>
              <a:t> </a:t>
            </a:r>
            <a:r>
              <a:rPr dirty="0" sz="2100"/>
              <a:t>concepts</a:t>
            </a:r>
            <a:r>
              <a:rPr dirty="0" sz="2100" spc="175"/>
              <a:t> </a:t>
            </a:r>
            <a:r>
              <a:rPr dirty="0" sz="2100"/>
              <a:t>including</a:t>
            </a:r>
            <a:r>
              <a:rPr dirty="0" sz="2100" spc="204"/>
              <a:t> </a:t>
            </a:r>
            <a:r>
              <a:rPr dirty="0" sz="2100"/>
              <a:t>heuristic</a:t>
            </a:r>
            <a:r>
              <a:rPr dirty="0" sz="2100" spc="175"/>
              <a:t> </a:t>
            </a:r>
            <a:r>
              <a:rPr dirty="0" sz="2100"/>
              <a:t>search,</a:t>
            </a:r>
            <a:r>
              <a:rPr dirty="0" sz="2100" spc="185"/>
              <a:t> </a:t>
            </a:r>
            <a:r>
              <a:rPr dirty="0" sz="2100"/>
              <a:t>reinforcement</a:t>
            </a:r>
            <a:r>
              <a:rPr dirty="0" sz="2100" spc="165"/>
              <a:t> </a:t>
            </a:r>
            <a:r>
              <a:rPr dirty="0" sz="2100"/>
              <a:t>learning,</a:t>
            </a:r>
            <a:r>
              <a:rPr dirty="0" sz="2100" spc="190"/>
              <a:t> </a:t>
            </a:r>
            <a:r>
              <a:rPr dirty="0" sz="2100" spc="-10"/>
              <a:t>decision-</a:t>
            </a:r>
            <a:r>
              <a:rPr dirty="0" sz="2100"/>
              <a:t>making,</a:t>
            </a:r>
            <a:r>
              <a:rPr dirty="0" sz="2100" spc="-55"/>
              <a:t> </a:t>
            </a:r>
            <a:r>
              <a:rPr dirty="0" sz="2100"/>
              <a:t>and</a:t>
            </a:r>
            <a:r>
              <a:rPr dirty="0" sz="2100" spc="-20"/>
              <a:t> </a:t>
            </a:r>
            <a:r>
              <a:rPr dirty="0" sz="2100"/>
              <a:t>autonomous</a:t>
            </a:r>
            <a:r>
              <a:rPr dirty="0" sz="2100" spc="-45"/>
              <a:t> </a:t>
            </a:r>
            <a:r>
              <a:rPr dirty="0" sz="2100" spc="-10"/>
              <a:t>problem-</a:t>
            </a:r>
            <a:r>
              <a:rPr dirty="0" sz="2100"/>
              <a:t>solving</a:t>
            </a:r>
            <a:r>
              <a:rPr dirty="0" sz="2100" spc="-20"/>
              <a:t> </a:t>
            </a:r>
            <a:r>
              <a:rPr dirty="0" sz="2100"/>
              <a:t>in</a:t>
            </a:r>
            <a:r>
              <a:rPr dirty="0" sz="2100" spc="-70"/>
              <a:t> </a:t>
            </a:r>
            <a:r>
              <a:rPr dirty="0" sz="2100"/>
              <a:t>a practical</a:t>
            </a:r>
            <a:r>
              <a:rPr dirty="0" sz="2100" spc="-55"/>
              <a:t> </a:t>
            </a:r>
            <a:r>
              <a:rPr dirty="0" sz="2100" spc="-10"/>
              <a:t>environment.</a:t>
            </a:r>
            <a:endParaRPr sz="2100">
              <a:latin typeface="Wingdings"/>
              <a:cs typeface="Wingdings"/>
            </a:endParaRPr>
          </a:p>
          <a:p>
            <a:pPr marL="615315" marR="7620">
              <a:lnSpc>
                <a:spcPts val="2020"/>
              </a:lnSpc>
              <a:spcBef>
                <a:spcPts val="994"/>
              </a:spcBef>
            </a:pPr>
            <a:r>
              <a:rPr dirty="0" sz="2100">
                <a:latin typeface="Wingdings"/>
                <a:cs typeface="Wingdings"/>
              </a:rPr>
              <a:t></a:t>
            </a:r>
            <a:r>
              <a:rPr dirty="0" sz="2100"/>
              <a:t>To</a:t>
            </a:r>
            <a:r>
              <a:rPr dirty="0" sz="2100" spc="70"/>
              <a:t> </a:t>
            </a:r>
            <a:r>
              <a:rPr dirty="0" sz="2100"/>
              <a:t>provide</a:t>
            </a:r>
            <a:r>
              <a:rPr dirty="0" sz="2100" spc="75"/>
              <a:t> </a:t>
            </a:r>
            <a:r>
              <a:rPr dirty="0" sz="2100"/>
              <a:t>a</a:t>
            </a:r>
            <a:r>
              <a:rPr dirty="0" sz="2100" spc="75"/>
              <a:t> </a:t>
            </a:r>
            <a:r>
              <a:rPr dirty="0" sz="2100"/>
              <a:t>graphical</a:t>
            </a:r>
            <a:r>
              <a:rPr dirty="0" sz="2100" spc="85"/>
              <a:t> </a:t>
            </a:r>
            <a:r>
              <a:rPr dirty="0" sz="2100"/>
              <a:t>visualization</a:t>
            </a:r>
            <a:r>
              <a:rPr dirty="0" sz="2100" spc="85"/>
              <a:t> </a:t>
            </a:r>
            <a:r>
              <a:rPr dirty="0" sz="2100"/>
              <a:t>of</a:t>
            </a:r>
            <a:r>
              <a:rPr dirty="0" sz="2100" spc="80"/>
              <a:t> </a:t>
            </a:r>
            <a:r>
              <a:rPr dirty="0" sz="2100"/>
              <a:t>the</a:t>
            </a:r>
            <a:r>
              <a:rPr dirty="0" sz="2100" spc="80"/>
              <a:t> </a:t>
            </a:r>
            <a:r>
              <a:rPr dirty="0" sz="2100"/>
              <a:t>maze,</a:t>
            </a:r>
            <a:r>
              <a:rPr dirty="0" sz="2100" spc="60"/>
              <a:t> </a:t>
            </a:r>
            <a:r>
              <a:rPr dirty="0" sz="2100"/>
              <a:t>the</a:t>
            </a:r>
            <a:r>
              <a:rPr dirty="0" sz="2100" spc="80"/>
              <a:t> </a:t>
            </a:r>
            <a:r>
              <a:rPr dirty="0" sz="2100"/>
              <a:t>agent's</a:t>
            </a:r>
            <a:r>
              <a:rPr dirty="0" sz="2100" spc="80"/>
              <a:t> </a:t>
            </a:r>
            <a:r>
              <a:rPr dirty="0" sz="2100"/>
              <a:t>exploration</a:t>
            </a:r>
            <a:r>
              <a:rPr dirty="0" sz="2100" spc="80"/>
              <a:t> </a:t>
            </a:r>
            <a:r>
              <a:rPr dirty="0" sz="2100"/>
              <a:t>process,</a:t>
            </a:r>
            <a:r>
              <a:rPr dirty="0" sz="2100" spc="60"/>
              <a:t> </a:t>
            </a:r>
            <a:r>
              <a:rPr dirty="0" sz="2100"/>
              <a:t>and</a:t>
            </a:r>
            <a:r>
              <a:rPr dirty="0" sz="2100" spc="75"/>
              <a:t> </a:t>
            </a:r>
            <a:r>
              <a:rPr dirty="0" sz="2100" spc="-25"/>
              <a:t>the </a:t>
            </a:r>
            <a:r>
              <a:rPr dirty="0" sz="2100"/>
              <a:t>final</a:t>
            </a:r>
            <a:r>
              <a:rPr dirty="0" sz="2100" spc="-60"/>
              <a:t> </a:t>
            </a:r>
            <a:r>
              <a:rPr dirty="0" sz="2100"/>
              <a:t>path</a:t>
            </a:r>
            <a:r>
              <a:rPr dirty="0" sz="2100" spc="5"/>
              <a:t> </a:t>
            </a:r>
            <a:r>
              <a:rPr dirty="0" sz="2100"/>
              <a:t>to improve</a:t>
            </a:r>
            <a:r>
              <a:rPr dirty="0" sz="2100" spc="-40"/>
              <a:t> </a:t>
            </a:r>
            <a:r>
              <a:rPr dirty="0" sz="2100"/>
              <a:t>understanding</a:t>
            </a:r>
            <a:r>
              <a:rPr dirty="0" sz="2100" spc="-65"/>
              <a:t> </a:t>
            </a:r>
            <a:r>
              <a:rPr dirty="0" sz="2100"/>
              <a:t>of</a:t>
            </a:r>
            <a:r>
              <a:rPr dirty="0" sz="2100" spc="-10"/>
              <a:t> </a:t>
            </a:r>
            <a:r>
              <a:rPr dirty="0" sz="2100"/>
              <a:t>algorithm</a:t>
            </a:r>
            <a:r>
              <a:rPr dirty="0" sz="2100" spc="-15"/>
              <a:t> </a:t>
            </a:r>
            <a:r>
              <a:rPr dirty="0" sz="2100" spc="-10"/>
              <a:t>behaviour.</a:t>
            </a:r>
            <a:endParaRPr sz="2100">
              <a:latin typeface="Wingdings"/>
              <a:cs typeface="Wingdings"/>
            </a:endParaRPr>
          </a:p>
          <a:p>
            <a:pPr marL="615315" marR="6985">
              <a:lnSpc>
                <a:spcPct val="80000"/>
              </a:lnSpc>
              <a:spcBef>
                <a:spcPts val="994"/>
              </a:spcBef>
            </a:pPr>
            <a:r>
              <a:rPr dirty="0" sz="2100">
                <a:latin typeface="Wingdings"/>
                <a:cs typeface="Wingdings"/>
              </a:rPr>
              <a:t></a:t>
            </a:r>
            <a:r>
              <a:rPr dirty="0" sz="2100"/>
              <a:t>To</a:t>
            </a:r>
            <a:r>
              <a:rPr dirty="0" sz="2100" spc="355"/>
              <a:t> </a:t>
            </a:r>
            <a:r>
              <a:rPr dirty="0" sz="2100"/>
              <a:t>compare</a:t>
            </a:r>
            <a:r>
              <a:rPr dirty="0" sz="2100" spc="360"/>
              <a:t> </a:t>
            </a:r>
            <a:r>
              <a:rPr dirty="0" sz="2100"/>
              <a:t>the</a:t>
            </a:r>
            <a:r>
              <a:rPr dirty="0" sz="2100" spc="360"/>
              <a:t> </a:t>
            </a:r>
            <a:r>
              <a:rPr dirty="0" sz="2100"/>
              <a:t>performance</a:t>
            </a:r>
            <a:r>
              <a:rPr dirty="0" sz="2100" spc="365"/>
              <a:t> </a:t>
            </a:r>
            <a:r>
              <a:rPr dirty="0" sz="2100"/>
              <a:t>of</a:t>
            </a:r>
            <a:r>
              <a:rPr dirty="0" sz="2100" spc="365"/>
              <a:t> </a:t>
            </a:r>
            <a:r>
              <a:rPr dirty="0" sz="2100"/>
              <a:t>different</a:t>
            </a:r>
            <a:r>
              <a:rPr dirty="0" sz="2100" spc="355"/>
              <a:t> </a:t>
            </a:r>
            <a:r>
              <a:rPr dirty="0" sz="2100"/>
              <a:t>AI</a:t>
            </a:r>
            <a:r>
              <a:rPr dirty="0" sz="2100" spc="345"/>
              <a:t> </a:t>
            </a:r>
            <a:r>
              <a:rPr dirty="0" sz="2100"/>
              <a:t>algorithms</a:t>
            </a:r>
            <a:r>
              <a:rPr dirty="0" sz="2100" spc="340"/>
              <a:t> </a:t>
            </a:r>
            <a:r>
              <a:rPr dirty="0" sz="2100"/>
              <a:t>based</a:t>
            </a:r>
            <a:r>
              <a:rPr dirty="0" sz="2100" spc="360"/>
              <a:t> </a:t>
            </a:r>
            <a:r>
              <a:rPr dirty="0" sz="2100"/>
              <a:t>on</a:t>
            </a:r>
            <a:r>
              <a:rPr dirty="0" sz="2100" spc="365"/>
              <a:t> </a:t>
            </a:r>
            <a:r>
              <a:rPr dirty="0" sz="2100"/>
              <a:t>factors</a:t>
            </a:r>
            <a:r>
              <a:rPr dirty="0" sz="2100" spc="330"/>
              <a:t> </a:t>
            </a:r>
            <a:r>
              <a:rPr dirty="0" sz="2100"/>
              <a:t>such</a:t>
            </a:r>
            <a:r>
              <a:rPr dirty="0" sz="2100" spc="360"/>
              <a:t> </a:t>
            </a:r>
            <a:r>
              <a:rPr dirty="0" sz="2100"/>
              <a:t>as</a:t>
            </a:r>
            <a:r>
              <a:rPr dirty="0" sz="2100" spc="360"/>
              <a:t> </a:t>
            </a:r>
            <a:r>
              <a:rPr dirty="0" sz="2100" spc="-20"/>
              <a:t>path </a:t>
            </a:r>
            <a:r>
              <a:rPr dirty="0" sz="2100"/>
              <a:t>length,</a:t>
            </a:r>
            <a:r>
              <a:rPr dirty="0" sz="2100" spc="-55"/>
              <a:t> </a:t>
            </a:r>
            <a:r>
              <a:rPr dirty="0" sz="2100"/>
              <a:t>execution</a:t>
            </a:r>
            <a:r>
              <a:rPr dirty="0" sz="2100" spc="-65"/>
              <a:t> </a:t>
            </a:r>
            <a:r>
              <a:rPr dirty="0" sz="2100"/>
              <a:t>time,</a:t>
            </a:r>
            <a:r>
              <a:rPr dirty="0" sz="2100" spc="-30"/>
              <a:t> </a:t>
            </a:r>
            <a:r>
              <a:rPr dirty="0" sz="2100"/>
              <a:t>and</a:t>
            </a:r>
            <a:r>
              <a:rPr dirty="0" sz="2100" spc="-10"/>
              <a:t> </a:t>
            </a:r>
            <a:r>
              <a:rPr dirty="0" sz="2100"/>
              <a:t>exploration</a:t>
            </a:r>
            <a:r>
              <a:rPr dirty="0" sz="2100" spc="-65"/>
              <a:t> </a:t>
            </a:r>
            <a:r>
              <a:rPr dirty="0" sz="2100" spc="-10"/>
              <a:t>efficiency.</a:t>
            </a:r>
            <a:endParaRPr sz="2100">
              <a:latin typeface="Wingdings"/>
              <a:cs typeface="Wingdings"/>
            </a:endParaRPr>
          </a:p>
          <a:p>
            <a:pPr marL="615315">
              <a:lnSpc>
                <a:spcPts val="2185"/>
              </a:lnSpc>
              <a:spcBef>
                <a:spcPts val="505"/>
              </a:spcBef>
            </a:pPr>
            <a:r>
              <a:rPr dirty="0" sz="2100" spc="-10">
                <a:latin typeface="Wingdings"/>
                <a:cs typeface="Wingdings"/>
              </a:rPr>
              <a:t></a:t>
            </a:r>
            <a:r>
              <a:rPr dirty="0" sz="2100" spc="-10"/>
              <a:t>To</a:t>
            </a:r>
            <a:r>
              <a:rPr dirty="0" sz="2100" spc="65"/>
              <a:t> </a:t>
            </a:r>
            <a:r>
              <a:rPr dirty="0" sz="2100"/>
              <a:t>create</a:t>
            </a:r>
            <a:r>
              <a:rPr dirty="0" sz="2100" spc="70"/>
              <a:t> </a:t>
            </a:r>
            <a:r>
              <a:rPr dirty="0" sz="2100"/>
              <a:t>a</a:t>
            </a:r>
            <a:r>
              <a:rPr dirty="0" sz="2100" spc="65"/>
              <a:t> </a:t>
            </a:r>
            <a:r>
              <a:rPr dirty="0" sz="2100"/>
              <a:t>foundation</a:t>
            </a:r>
            <a:r>
              <a:rPr dirty="0" sz="2100" spc="70"/>
              <a:t> </a:t>
            </a:r>
            <a:r>
              <a:rPr dirty="0" sz="2100"/>
              <a:t>for</a:t>
            </a:r>
            <a:r>
              <a:rPr dirty="0" sz="2100" spc="60"/>
              <a:t> </a:t>
            </a:r>
            <a:r>
              <a:rPr dirty="0" sz="2100" spc="-10"/>
              <a:t>real-</a:t>
            </a:r>
            <a:r>
              <a:rPr dirty="0" sz="2100"/>
              <a:t>world</a:t>
            </a:r>
            <a:r>
              <a:rPr dirty="0" sz="2100" spc="75"/>
              <a:t> </a:t>
            </a:r>
            <a:r>
              <a:rPr dirty="0" sz="2100"/>
              <a:t>applications</a:t>
            </a:r>
            <a:r>
              <a:rPr dirty="0" sz="2100" spc="45"/>
              <a:t> </a:t>
            </a:r>
            <a:r>
              <a:rPr dirty="0" sz="2100"/>
              <a:t>such</a:t>
            </a:r>
            <a:r>
              <a:rPr dirty="0" sz="2100" spc="65"/>
              <a:t> </a:t>
            </a:r>
            <a:r>
              <a:rPr dirty="0" sz="2100"/>
              <a:t>as</a:t>
            </a:r>
            <a:r>
              <a:rPr dirty="0" sz="2100" spc="70"/>
              <a:t> </a:t>
            </a:r>
            <a:r>
              <a:rPr dirty="0" sz="2100"/>
              <a:t>robotic</a:t>
            </a:r>
            <a:r>
              <a:rPr dirty="0" sz="2100" spc="65"/>
              <a:t> </a:t>
            </a:r>
            <a:r>
              <a:rPr dirty="0" sz="2100"/>
              <a:t>navigation,</a:t>
            </a:r>
            <a:r>
              <a:rPr dirty="0" sz="2100" spc="60"/>
              <a:t> </a:t>
            </a:r>
            <a:r>
              <a:rPr dirty="0" sz="2100" spc="-10"/>
              <a:t>autonomous</a:t>
            </a:r>
            <a:endParaRPr sz="2100">
              <a:latin typeface="Wingdings"/>
              <a:cs typeface="Wingdings"/>
            </a:endParaRPr>
          </a:p>
          <a:p>
            <a:pPr marL="615315">
              <a:lnSpc>
                <a:spcPts val="2785"/>
              </a:lnSpc>
            </a:pPr>
            <a:r>
              <a:rPr dirty="0" sz="2100"/>
              <a:t>vehicles,</a:t>
            </a:r>
            <a:r>
              <a:rPr dirty="0" sz="2100" spc="-55"/>
              <a:t> </a:t>
            </a:r>
            <a:r>
              <a:rPr dirty="0" sz="2100"/>
              <a:t>game</a:t>
            </a:r>
            <a:r>
              <a:rPr dirty="0" sz="2100" spc="-170"/>
              <a:t> </a:t>
            </a:r>
            <a:r>
              <a:rPr dirty="0" sz="2100"/>
              <a:t>AI,</a:t>
            </a:r>
            <a:r>
              <a:rPr dirty="0" sz="2100" spc="10"/>
              <a:t> </a:t>
            </a:r>
            <a:r>
              <a:rPr dirty="0" sz="2100"/>
              <a:t>logistics,</a:t>
            </a:r>
            <a:r>
              <a:rPr dirty="0" sz="2100" spc="-60"/>
              <a:t> </a:t>
            </a:r>
            <a:r>
              <a:rPr dirty="0" sz="2100"/>
              <a:t>and</a:t>
            </a:r>
            <a:r>
              <a:rPr dirty="0" sz="2100" spc="-25"/>
              <a:t> </a:t>
            </a:r>
            <a:r>
              <a:rPr dirty="0" sz="2100"/>
              <a:t>route</a:t>
            </a:r>
            <a:r>
              <a:rPr dirty="0" sz="2100" spc="-30"/>
              <a:t> </a:t>
            </a:r>
            <a:r>
              <a:rPr dirty="0" sz="2100" spc="-10"/>
              <a:t>optimisation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817" rIns="0" bIns="0" rtlCol="0" vert="horz">
            <a:spAutoFit/>
          </a:bodyPr>
          <a:lstStyle/>
          <a:p>
            <a:pPr marL="2094230">
              <a:lnSpc>
                <a:spcPct val="100000"/>
              </a:lnSpc>
              <a:spcBef>
                <a:spcPts val="95"/>
              </a:spcBef>
            </a:pPr>
            <a:r>
              <a:rPr dirty="0"/>
              <a:t>Literature</a:t>
            </a:r>
            <a:r>
              <a:rPr dirty="0" spc="-195"/>
              <a:t> </a:t>
            </a:r>
            <a:r>
              <a:rPr dirty="0" spc="-1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1819275"/>
          <a:ext cx="10456545" cy="334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2070"/>
                <a:gridCol w="2592070"/>
                <a:gridCol w="2592069"/>
                <a:gridCol w="2592070"/>
              </a:tblGrid>
              <a:tr h="829944">
                <a:tc>
                  <a:txBody>
                    <a:bodyPr/>
                    <a:lstStyle/>
                    <a:p>
                      <a:pPr marL="8020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8058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410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AUTHOR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TECHNIQUE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852805">
                <a:tc>
                  <a:txBody>
                    <a:bodyPr/>
                    <a:lstStyle/>
                    <a:p>
                      <a:pPr marL="91440" marR="157480">
                        <a:lnSpc>
                          <a:spcPct val="103200"/>
                        </a:lnSpc>
                        <a:spcBef>
                          <a:spcPts val="38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6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Formal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Basis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for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Heuristic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Determination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Paths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1968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30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Peter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Hart,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Nils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Nilsson,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Bertram</a:t>
                      </a:r>
                      <a:r>
                        <a:rPr dirty="0" sz="16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Raphael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A*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Search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8299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Q-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Learning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1992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Christopher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J.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C.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H.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Watkins</a:t>
                      </a:r>
                      <a:r>
                        <a:rPr dirty="0" sz="160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Peter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Dayan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Reinforcement</a:t>
                      </a:r>
                      <a:r>
                        <a:rPr dirty="0" sz="1600" spc="-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Learning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(Q-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Learning)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8299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Dijkstra's</a:t>
                      </a:r>
                      <a:r>
                        <a:rPr dirty="0" sz="160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Algorithm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for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Shortest</a:t>
                      </a:r>
                      <a:r>
                        <a:rPr dirty="0" sz="16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Path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1959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Edsger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W.</a:t>
                      </a:r>
                      <a:r>
                        <a:rPr dirty="0" sz="16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Dijkstra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Dijkstra's</a:t>
                      </a:r>
                      <a:r>
                        <a:rPr dirty="0" sz="1600" spc="-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Shortest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Path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Algorithm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817" rIns="0" bIns="0" rtlCol="0" vert="horz">
            <a:spAutoFit/>
          </a:bodyPr>
          <a:lstStyle/>
          <a:p>
            <a:pPr marL="1692275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EXISTING</a:t>
            </a:r>
            <a:r>
              <a:rPr dirty="0" spc="-18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SYSTEM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482600">
              <a:lnSpc>
                <a:spcPts val="1825"/>
              </a:lnSpc>
              <a:spcBef>
                <a:spcPts val="110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dirty="0"/>
              <a:t>Traditional</a:t>
            </a:r>
            <a:r>
              <a:rPr dirty="0" spc="335"/>
              <a:t> </a:t>
            </a:r>
            <a:r>
              <a:rPr dirty="0" spc="-20"/>
              <a:t>maze-</a:t>
            </a:r>
            <a:r>
              <a:rPr dirty="0"/>
              <a:t>solving</a:t>
            </a:r>
            <a:r>
              <a:rPr dirty="0" spc="330"/>
              <a:t> </a:t>
            </a:r>
            <a:r>
              <a:rPr dirty="0"/>
              <a:t>systems</a:t>
            </a:r>
            <a:r>
              <a:rPr dirty="0" spc="370"/>
              <a:t> </a:t>
            </a:r>
            <a:r>
              <a:rPr dirty="0"/>
              <a:t>primarily</a:t>
            </a:r>
            <a:r>
              <a:rPr dirty="0" spc="340"/>
              <a:t> </a:t>
            </a:r>
            <a:r>
              <a:rPr dirty="0"/>
              <a:t>use</a:t>
            </a:r>
            <a:r>
              <a:rPr dirty="0" spc="355"/>
              <a:t> </a:t>
            </a:r>
            <a:r>
              <a:rPr dirty="0"/>
              <a:t>algorithms</a:t>
            </a:r>
            <a:r>
              <a:rPr dirty="0" spc="340"/>
              <a:t> </a:t>
            </a:r>
            <a:r>
              <a:rPr dirty="0"/>
              <a:t>such</a:t>
            </a:r>
            <a:r>
              <a:rPr dirty="0" spc="350"/>
              <a:t> </a:t>
            </a:r>
            <a:r>
              <a:rPr dirty="0"/>
              <a:t>as</a:t>
            </a:r>
            <a:r>
              <a:rPr dirty="0" spc="345"/>
              <a:t> </a:t>
            </a:r>
            <a:r>
              <a:rPr dirty="0" spc="-10"/>
              <a:t>Depth-</a:t>
            </a:r>
            <a:r>
              <a:rPr dirty="0"/>
              <a:t>First</a:t>
            </a:r>
            <a:r>
              <a:rPr dirty="0" spc="340"/>
              <a:t> </a:t>
            </a:r>
            <a:r>
              <a:rPr dirty="0"/>
              <a:t>Search</a:t>
            </a:r>
            <a:r>
              <a:rPr dirty="0" spc="335"/>
              <a:t> </a:t>
            </a:r>
            <a:r>
              <a:rPr dirty="0"/>
              <a:t>(DFS),</a:t>
            </a:r>
            <a:r>
              <a:rPr dirty="0" spc="340"/>
              <a:t> </a:t>
            </a:r>
            <a:r>
              <a:rPr dirty="0" spc="-10"/>
              <a:t>Breadth-First</a:t>
            </a:r>
          </a:p>
          <a:p>
            <a:pPr marL="482600">
              <a:lnSpc>
                <a:spcPts val="1825"/>
              </a:lnSpc>
            </a:pPr>
            <a:r>
              <a:rPr dirty="0"/>
              <a:t>Search</a:t>
            </a:r>
            <a:r>
              <a:rPr dirty="0" spc="-10"/>
              <a:t> </a:t>
            </a:r>
            <a:r>
              <a:rPr dirty="0"/>
              <a:t>(BFS),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 spc="-10"/>
              <a:t>Dijkstra's</a:t>
            </a:r>
            <a:r>
              <a:rPr dirty="0" spc="-135"/>
              <a:t> </a:t>
            </a:r>
            <a:r>
              <a:rPr dirty="0" spc="-10"/>
              <a:t>Algorithm.</a:t>
            </a:r>
          </a:p>
          <a:p>
            <a:pPr marL="482600">
              <a:lnSpc>
                <a:spcPct val="100000"/>
              </a:lnSpc>
              <a:spcBef>
                <a:spcPts val="790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dirty="0"/>
              <a:t>These</a:t>
            </a:r>
            <a:r>
              <a:rPr dirty="0" spc="-75"/>
              <a:t> </a:t>
            </a:r>
            <a:r>
              <a:rPr dirty="0"/>
              <a:t>algorithms</a:t>
            </a:r>
            <a:r>
              <a:rPr dirty="0" spc="-95"/>
              <a:t> </a:t>
            </a:r>
            <a:r>
              <a:rPr dirty="0"/>
              <a:t>follow</a:t>
            </a:r>
            <a:r>
              <a:rPr dirty="0" spc="-70"/>
              <a:t> </a:t>
            </a:r>
            <a:r>
              <a:rPr dirty="0"/>
              <a:t>predefined</a:t>
            </a:r>
            <a:r>
              <a:rPr dirty="0" spc="-25"/>
              <a:t> </a:t>
            </a:r>
            <a:r>
              <a:rPr dirty="0"/>
              <a:t>search</a:t>
            </a:r>
            <a:r>
              <a:rPr dirty="0" spc="-75"/>
              <a:t> </a:t>
            </a:r>
            <a:r>
              <a:rPr dirty="0"/>
              <a:t>strategies</a:t>
            </a:r>
            <a:r>
              <a:rPr dirty="0" spc="-50"/>
              <a:t> </a:t>
            </a:r>
            <a:r>
              <a:rPr dirty="0"/>
              <a:t>without</a:t>
            </a:r>
            <a:r>
              <a:rPr dirty="0" spc="-15"/>
              <a:t> </a:t>
            </a:r>
            <a:r>
              <a:rPr dirty="0"/>
              <a:t>any</a:t>
            </a:r>
            <a:r>
              <a:rPr dirty="0" spc="-40"/>
              <a:t> </a:t>
            </a:r>
            <a:r>
              <a:rPr dirty="0"/>
              <a:t>learning</a:t>
            </a:r>
            <a:r>
              <a:rPr dirty="0" spc="-50"/>
              <a:t> </a:t>
            </a:r>
            <a:r>
              <a:rPr dirty="0" spc="-10"/>
              <a:t>capability.</a:t>
            </a:r>
          </a:p>
          <a:p>
            <a:pPr marL="482600">
              <a:lnSpc>
                <a:spcPct val="100000"/>
              </a:lnSpc>
              <a:spcBef>
                <a:spcPts val="819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dirty="0"/>
              <a:t>They</a:t>
            </a:r>
            <a:r>
              <a:rPr dirty="0" spc="-60"/>
              <a:t> </a:t>
            </a:r>
            <a:r>
              <a:rPr dirty="0"/>
              <a:t>often</a:t>
            </a:r>
            <a:r>
              <a:rPr dirty="0" spc="-50"/>
              <a:t> </a:t>
            </a:r>
            <a:r>
              <a:rPr dirty="0"/>
              <a:t>explore</a:t>
            </a:r>
            <a:r>
              <a:rPr dirty="0" spc="-10"/>
              <a:t> </a:t>
            </a:r>
            <a:r>
              <a:rPr dirty="0"/>
              <a:t>many</a:t>
            </a:r>
            <a:r>
              <a:rPr dirty="0" spc="-50"/>
              <a:t> </a:t>
            </a:r>
            <a:r>
              <a:rPr dirty="0"/>
              <a:t>unnecessary</a:t>
            </a:r>
            <a:r>
              <a:rPr dirty="0" spc="-75"/>
              <a:t> </a:t>
            </a:r>
            <a:r>
              <a:rPr dirty="0"/>
              <a:t>nodes</a:t>
            </a:r>
            <a:r>
              <a:rPr dirty="0" spc="-35"/>
              <a:t> </a:t>
            </a:r>
            <a:r>
              <a:rPr dirty="0"/>
              <a:t>before</a:t>
            </a:r>
            <a:r>
              <a:rPr dirty="0" spc="-25"/>
              <a:t> </a:t>
            </a:r>
            <a:r>
              <a:rPr dirty="0"/>
              <a:t>reaching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goal,</a:t>
            </a:r>
            <a:r>
              <a:rPr dirty="0" spc="-35"/>
              <a:t> </a:t>
            </a:r>
            <a:r>
              <a:rPr dirty="0"/>
              <a:t>increasing</a:t>
            </a:r>
            <a:r>
              <a:rPr dirty="0" spc="-70"/>
              <a:t> </a:t>
            </a:r>
            <a:r>
              <a:rPr dirty="0"/>
              <a:t>computation</a:t>
            </a:r>
            <a:r>
              <a:rPr dirty="0" spc="-90"/>
              <a:t> </a:t>
            </a:r>
            <a:r>
              <a:rPr dirty="0" spc="-10"/>
              <a:t>time.</a:t>
            </a:r>
          </a:p>
          <a:p>
            <a:pPr marL="482600">
              <a:lnSpc>
                <a:spcPct val="100000"/>
              </a:lnSpc>
              <a:spcBef>
                <a:spcPts val="81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dirty="0"/>
              <a:t>Performance</a:t>
            </a:r>
            <a:r>
              <a:rPr dirty="0" spc="-80"/>
              <a:t> </a:t>
            </a:r>
            <a:r>
              <a:rPr dirty="0"/>
              <a:t>decreases</a:t>
            </a:r>
            <a:r>
              <a:rPr dirty="0" spc="-40"/>
              <a:t> </a:t>
            </a:r>
            <a:r>
              <a:rPr dirty="0"/>
              <a:t>significantly</a:t>
            </a:r>
            <a:r>
              <a:rPr dirty="0" spc="-85"/>
              <a:t> </a:t>
            </a:r>
            <a:r>
              <a:rPr dirty="0"/>
              <a:t>as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maze</a:t>
            </a:r>
            <a:r>
              <a:rPr dirty="0" spc="-60"/>
              <a:t> </a:t>
            </a:r>
            <a:r>
              <a:rPr dirty="0"/>
              <a:t>size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complexity</a:t>
            </a:r>
            <a:r>
              <a:rPr dirty="0" spc="-60"/>
              <a:t> </a:t>
            </a:r>
            <a:r>
              <a:rPr dirty="0" spc="-10"/>
              <a:t>increase.</a:t>
            </a:r>
          </a:p>
          <a:p>
            <a:pPr marL="482600">
              <a:lnSpc>
                <a:spcPct val="100000"/>
              </a:lnSpc>
              <a:spcBef>
                <a:spcPts val="79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dirty="0"/>
              <a:t>Most</a:t>
            </a:r>
            <a:r>
              <a:rPr dirty="0" spc="-30"/>
              <a:t> </a:t>
            </a:r>
            <a:r>
              <a:rPr dirty="0"/>
              <a:t>existing</a:t>
            </a:r>
            <a:r>
              <a:rPr dirty="0" spc="-40"/>
              <a:t> </a:t>
            </a:r>
            <a:r>
              <a:rPr dirty="0"/>
              <a:t>systems</a:t>
            </a:r>
            <a:r>
              <a:rPr dirty="0" spc="-85"/>
              <a:t> </a:t>
            </a:r>
            <a:r>
              <a:rPr dirty="0"/>
              <a:t>cannot</a:t>
            </a:r>
            <a:r>
              <a:rPr dirty="0" spc="-20"/>
              <a:t> </a:t>
            </a:r>
            <a:r>
              <a:rPr dirty="0"/>
              <a:t>adapt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dynamic</a:t>
            </a:r>
            <a:r>
              <a:rPr dirty="0" spc="-45"/>
              <a:t> </a:t>
            </a:r>
            <a:r>
              <a:rPr dirty="0"/>
              <a:t>or</a:t>
            </a:r>
            <a:r>
              <a:rPr dirty="0" spc="-20"/>
              <a:t> </a:t>
            </a:r>
            <a:r>
              <a:rPr dirty="0"/>
              <a:t>changing</a:t>
            </a:r>
            <a:r>
              <a:rPr dirty="0" spc="-65"/>
              <a:t> </a:t>
            </a:r>
            <a:r>
              <a:rPr dirty="0"/>
              <a:t>maze</a:t>
            </a:r>
            <a:r>
              <a:rPr dirty="0" spc="-40"/>
              <a:t> </a:t>
            </a:r>
            <a:r>
              <a:rPr dirty="0" spc="-10"/>
              <a:t>environments.</a:t>
            </a:r>
          </a:p>
          <a:p>
            <a:pPr marL="482600">
              <a:lnSpc>
                <a:spcPct val="100000"/>
              </a:lnSpc>
              <a:spcBef>
                <a:spcPts val="815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dirty="0"/>
              <a:t>They</a:t>
            </a:r>
            <a:r>
              <a:rPr dirty="0" spc="-35"/>
              <a:t> </a:t>
            </a:r>
            <a:r>
              <a:rPr dirty="0"/>
              <a:t>do</a:t>
            </a:r>
            <a:r>
              <a:rPr dirty="0" spc="-30"/>
              <a:t> </a:t>
            </a:r>
            <a:r>
              <a:rPr dirty="0"/>
              <a:t>not</a:t>
            </a:r>
            <a:r>
              <a:rPr dirty="0" spc="5"/>
              <a:t> </a:t>
            </a:r>
            <a:r>
              <a:rPr dirty="0"/>
              <a:t>utilize</a:t>
            </a:r>
            <a:r>
              <a:rPr dirty="0" spc="-45"/>
              <a:t> </a:t>
            </a:r>
            <a:r>
              <a:rPr dirty="0"/>
              <a:t>heuristic</a:t>
            </a:r>
            <a:r>
              <a:rPr dirty="0" spc="-30"/>
              <a:t> </a:t>
            </a:r>
            <a:r>
              <a:rPr dirty="0"/>
              <a:t>information</a:t>
            </a:r>
            <a:r>
              <a:rPr dirty="0" spc="-50"/>
              <a:t> </a:t>
            </a:r>
            <a:r>
              <a:rPr dirty="0" spc="-20"/>
              <a:t>effectively,</a:t>
            </a:r>
            <a:r>
              <a:rPr dirty="0" spc="-50"/>
              <a:t> </a:t>
            </a:r>
            <a:r>
              <a:rPr dirty="0"/>
              <a:t>resulting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slower</a:t>
            </a:r>
            <a:r>
              <a:rPr dirty="0" spc="-10"/>
              <a:t> </a:t>
            </a:r>
            <a:r>
              <a:rPr dirty="0"/>
              <a:t>pathfinding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many</a:t>
            </a:r>
            <a:r>
              <a:rPr dirty="0" spc="-30"/>
              <a:t> </a:t>
            </a:r>
            <a:r>
              <a:rPr dirty="0" spc="-10"/>
              <a:t>cases.</a:t>
            </a:r>
          </a:p>
          <a:p>
            <a:pPr marL="482600">
              <a:lnSpc>
                <a:spcPct val="100000"/>
              </a:lnSpc>
              <a:spcBef>
                <a:spcPts val="819"/>
              </a:spcBef>
            </a:pPr>
            <a:r>
              <a:rPr dirty="0" spc="-10">
                <a:latin typeface="Wingdings"/>
                <a:cs typeface="Wingdings"/>
              </a:rPr>
              <a:t></a:t>
            </a:r>
            <a:r>
              <a:rPr dirty="0" spc="-10"/>
              <a:t>Traditional</a:t>
            </a:r>
            <a:r>
              <a:rPr dirty="0" spc="-50"/>
              <a:t> </a:t>
            </a:r>
            <a:r>
              <a:rPr dirty="0"/>
              <a:t>methods</a:t>
            </a:r>
            <a:r>
              <a:rPr dirty="0" spc="-35"/>
              <a:t> </a:t>
            </a:r>
            <a:r>
              <a:rPr dirty="0"/>
              <a:t>lack</a:t>
            </a:r>
            <a:r>
              <a:rPr dirty="0" spc="-15"/>
              <a:t> </a:t>
            </a:r>
            <a:r>
              <a:rPr dirty="0"/>
              <a:t>intelligent</a:t>
            </a:r>
            <a:r>
              <a:rPr dirty="0" spc="-15"/>
              <a:t> </a:t>
            </a:r>
            <a:r>
              <a:rPr dirty="0" spc="-10"/>
              <a:t>decision-</a:t>
            </a:r>
            <a:r>
              <a:rPr dirty="0"/>
              <a:t>making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15"/>
              <a:t> </a:t>
            </a:r>
            <a:r>
              <a:rPr dirty="0" spc="-20"/>
              <a:t>experience-</a:t>
            </a:r>
            <a:r>
              <a:rPr dirty="0"/>
              <a:t>based</a:t>
            </a:r>
            <a:r>
              <a:rPr dirty="0" spc="15"/>
              <a:t> </a:t>
            </a:r>
            <a:r>
              <a:rPr dirty="0" spc="-10"/>
              <a:t>learning.</a:t>
            </a:r>
          </a:p>
          <a:p>
            <a:pPr marL="482600">
              <a:lnSpc>
                <a:spcPct val="100000"/>
              </a:lnSpc>
              <a:spcBef>
                <a:spcPts val="790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dirty="0"/>
              <a:t>Existing</a:t>
            </a:r>
            <a:r>
              <a:rPr dirty="0" spc="-60"/>
              <a:t> </a:t>
            </a:r>
            <a:r>
              <a:rPr dirty="0"/>
              <a:t>systems</a:t>
            </a:r>
            <a:r>
              <a:rPr dirty="0" spc="-90"/>
              <a:t> </a:t>
            </a:r>
            <a:r>
              <a:rPr dirty="0"/>
              <a:t>generally</a:t>
            </a:r>
            <a:r>
              <a:rPr dirty="0" spc="-15"/>
              <a:t> </a:t>
            </a:r>
            <a:r>
              <a:rPr dirty="0"/>
              <a:t>provide</a:t>
            </a:r>
            <a:r>
              <a:rPr dirty="0" spc="-15"/>
              <a:t> </a:t>
            </a:r>
            <a:r>
              <a:rPr dirty="0"/>
              <a:t>limited</a:t>
            </a:r>
            <a:r>
              <a:rPr dirty="0" spc="-85"/>
              <a:t> </a:t>
            </a:r>
            <a:r>
              <a:rPr dirty="0"/>
              <a:t>visualization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search</a:t>
            </a:r>
            <a:r>
              <a:rPr dirty="0" spc="-35"/>
              <a:t> </a:t>
            </a:r>
            <a:r>
              <a:rPr dirty="0"/>
              <a:t>process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path</a:t>
            </a:r>
            <a:r>
              <a:rPr dirty="0" spc="-40"/>
              <a:t> </a:t>
            </a:r>
            <a:r>
              <a:rPr dirty="0" spc="-10"/>
              <a:t>exploration.</a:t>
            </a:r>
          </a:p>
          <a:p>
            <a:pPr marL="482600">
              <a:lnSpc>
                <a:spcPts val="1825"/>
              </a:lnSpc>
              <a:spcBef>
                <a:spcPts val="819"/>
              </a:spcBef>
            </a:pPr>
            <a:r>
              <a:rPr dirty="0">
                <a:latin typeface="Wingdings"/>
                <a:cs typeface="Wingdings"/>
              </a:rPr>
              <a:t></a:t>
            </a:r>
            <a:r>
              <a:rPr dirty="0"/>
              <a:t>They</a:t>
            </a:r>
            <a:r>
              <a:rPr dirty="0" spc="75"/>
              <a:t> </a:t>
            </a:r>
            <a:r>
              <a:rPr dirty="0"/>
              <a:t>are</a:t>
            </a:r>
            <a:r>
              <a:rPr dirty="0" spc="80"/>
              <a:t> </a:t>
            </a:r>
            <a:r>
              <a:rPr dirty="0"/>
              <a:t>less</a:t>
            </a:r>
            <a:r>
              <a:rPr dirty="0" spc="75"/>
              <a:t> </a:t>
            </a:r>
            <a:r>
              <a:rPr dirty="0"/>
              <a:t>suitable</a:t>
            </a:r>
            <a:r>
              <a:rPr dirty="0" spc="90"/>
              <a:t> </a:t>
            </a:r>
            <a:r>
              <a:rPr dirty="0"/>
              <a:t>for</a:t>
            </a:r>
            <a:r>
              <a:rPr dirty="0" spc="60"/>
              <a:t> </a:t>
            </a:r>
            <a:r>
              <a:rPr dirty="0"/>
              <a:t>modern</a:t>
            </a:r>
            <a:r>
              <a:rPr dirty="0" spc="85"/>
              <a:t> </a:t>
            </a:r>
            <a:r>
              <a:rPr dirty="0"/>
              <a:t>applications</a:t>
            </a:r>
            <a:r>
              <a:rPr dirty="0" spc="75"/>
              <a:t> </a:t>
            </a:r>
            <a:r>
              <a:rPr dirty="0"/>
              <a:t>such</a:t>
            </a:r>
            <a:r>
              <a:rPr dirty="0" spc="85"/>
              <a:t> </a:t>
            </a:r>
            <a:r>
              <a:rPr dirty="0"/>
              <a:t>as</a:t>
            </a:r>
            <a:r>
              <a:rPr dirty="0" spc="95"/>
              <a:t> </a:t>
            </a:r>
            <a:r>
              <a:rPr dirty="0"/>
              <a:t>autonomous</a:t>
            </a:r>
            <a:r>
              <a:rPr dirty="0" spc="105"/>
              <a:t> </a:t>
            </a:r>
            <a:r>
              <a:rPr dirty="0"/>
              <a:t>robots,</a:t>
            </a:r>
            <a:r>
              <a:rPr dirty="0" spc="75"/>
              <a:t> </a:t>
            </a:r>
            <a:r>
              <a:rPr dirty="0"/>
              <a:t>intelligent</a:t>
            </a:r>
            <a:r>
              <a:rPr dirty="0" spc="95"/>
              <a:t> </a:t>
            </a:r>
            <a:r>
              <a:rPr dirty="0"/>
              <a:t>navigation</a:t>
            </a:r>
            <a:r>
              <a:rPr dirty="0" spc="55"/>
              <a:t> </a:t>
            </a:r>
            <a:r>
              <a:rPr dirty="0"/>
              <a:t>systems,</a:t>
            </a:r>
            <a:r>
              <a:rPr dirty="0" spc="105"/>
              <a:t> </a:t>
            </a:r>
            <a:r>
              <a:rPr dirty="0" spc="-25"/>
              <a:t>and</a:t>
            </a:r>
          </a:p>
          <a:p>
            <a:pPr marL="482600">
              <a:lnSpc>
                <a:spcPts val="1825"/>
              </a:lnSpc>
            </a:pPr>
            <a:r>
              <a:rPr dirty="0" spc="-10"/>
              <a:t>real-</a:t>
            </a:r>
            <a:r>
              <a:rPr dirty="0"/>
              <a:t>time</a:t>
            </a:r>
            <a:r>
              <a:rPr dirty="0" spc="-55"/>
              <a:t> </a:t>
            </a:r>
            <a:r>
              <a:rPr dirty="0"/>
              <a:t>route</a:t>
            </a:r>
            <a:r>
              <a:rPr dirty="0" spc="-20"/>
              <a:t> </a:t>
            </a:r>
            <a:r>
              <a:rPr dirty="0"/>
              <a:t>optimization</a:t>
            </a:r>
            <a:r>
              <a:rPr dirty="0" spc="-65"/>
              <a:t> </a:t>
            </a:r>
            <a:r>
              <a:rPr dirty="0"/>
              <a:t>due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their limited</a:t>
            </a:r>
            <a:r>
              <a:rPr dirty="0" spc="-100"/>
              <a:t> </a:t>
            </a:r>
            <a:r>
              <a:rPr dirty="0"/>
              <a:t>adaptability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efficiency.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817" rIns="0" bIns="0" rtlCol="0" vert="horz">
            <a:spAutoFit/>
          </a:bodyPr>
          <a:lstStyle/>
          <a:p>
            <a:pPr marL="1411605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PROPOSED</a:t>
            </a:r>
            <a:r>
              <a:rPr dirty="0" spc="-204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30268"/>
            <a:ext cx="9975850" cy="3361054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600" spc="-10">
                <a:latin typeface="Wingdings"/>
                <a:cs typeface="Wingdings"/>
              </a:rPr>
              <a:t></a:t>
            </a:r>
            <a:r>
              <a:rPr dirty="0" sz="1600" spc="-10">
                <a:latin typeface="Arial"/>
                <a:cs typeface="Arial"/>
              </a:rPr>
              <a:t>Uses</a:t>
            </a:r>
            <a:r>
              <a:rPr dirty="0" sz="1600" spc="-1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Artificial</a:t>
            </a:r>
            <a:r>
              <a:rPr dirty="0" sz="1600" spc="-114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Intelligence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techniques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solve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navigation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problems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efficiently.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600" spc="-10">
                <a:latin typeface="Wingdings"/>
                <a:cs typeface="Wingdings"/>
              </a:rPr>
              <a:t></a:t>
            </a:r>
            <a:r>
              <a:rPr dirty="0" sz="1600" spc="-10">
                <a:latin typeface="Arial"/>
                <a:cs typeface="Arial"/>
              </a:rPr>
              <a:t>Implements</a:t>
            </a:r>
            <a:r>
              <a:rPr dirty="0" sz="1600" spc="-1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A*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Search</a:t>
            </a:r>
            <a:r>
              <a:rPr dirty="0" sz="1600" spc="-1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Algorithm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 identify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shortest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optimal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from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start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goal.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Integrates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Q-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(Reinforcement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Learning)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allow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agent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from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previous</a:t>
            </a:r>
            <a:r>
              <a:rPr dirty="0" sz="1600" spc="-10">
                <a:latin typeface="Arial"/>
                <a:cs typeface="Arial"/>
              </a:rPr>
              <a:t> experiences.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Enables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intelligent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decision-</a:t>
            </a:r>
            <a:r>
              <a:rPr dirty="0" sz="1600">
                <a:latin typeface="Arial"/>
                <a:cs typeface="Arial"/>
              </a:rPr>
              <a:t>making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by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analyzing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possible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routes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avoiding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obstacles.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Reduces</a:t>
            </a:r>
            <a:r>
              <a:rPr dirty="0" sz="1600" spc="-10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unnecessary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exploration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improves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pathfinding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speed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accuracy.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00" spc="-10">
                <a:latin typeface="Wingdings"/>
                <a:cs typeface="Wingdings"/>
              </a:rPr>
              <a:t></a:t>
            </a:r>
            <a:r>
              <a:rPr dirty="0" sz="1600" spc="-10">
                <a:latin typeface="Arial"/>
                <a:cs typeface="Arial"/>
              </a:rPr>
              <a:t>Represents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environment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grid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walls,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paths,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start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point,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destination.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Provides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graphical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visualization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agent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movement,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exploration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process,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final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path.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Improves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adaptability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dynamic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environments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compared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traditional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pathfinding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methods.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  <a:spcBef>
                <a:spcPts val="819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Supports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real-</a:t>
            </a:r>
            <a:r>
              <a:rPr dirty="0" sz="1600">
                <a:latin typeface="Arial"/>
                <a:cs typeface="Arial"/>
              </a:rPr>
              <a:t>world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applications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such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robot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navigation,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autonomous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vehicles,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gaming,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logistics,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route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</a:pPr>
            <a:r>
              <a:rPr dirty="0" sz="1600" spc="-10">
                <a:latin typeface="Arial"/>
                <a:cs typeface="Arial"/>
              </a:rPr>
              <a:t>optimization.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817" rIns="0" bIns="0" rtlCol="0" vert="horz">
            <a:spAutoFit/>
          </a:bodyPr>
          <a:lstStyle/>
          <a:p>
            <a:pPr marL="713105">
              <a:lnSpc>
                <a:spcPct val="100000"/>
              </a:lnSpc>
              <a:spcBef>
                <a:spcPts val="95"/>
              </a:spcBef>
            </a:pPr>
            <a:r>
              <a:rPr dirty="0"/>
              <a:t>Novelty</a:t>
            </a:r>
            <a:r>
              <a:rPr dirty="0" spc="-120"/>
              <a:t> </a:t>
            </a:r>
            <a:r>
              <a:rPr dirty="0"/>
              <a:t>in</a:t>
            </a:r>
            <a:r>
              <a:rPr dirty="0" spc="-120"/>
              <a:t> </a:t>
            </a:r>
            <a:r>
              <a:rPr dirty="0"/>
              <a:t>Proposed</a:t>
            </a:r>
            <a:r>
              <a:rPr dirty="0" spc="-13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29180"/>
            <a:ext cx="10365740" cy="36677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8890">
              <a:lnSpc>
                <a:spcPts val="1730"/>
              </a:lnSpc>
              <a:spcBef>
                <a:spcPts val="32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Hybrid</a:t>
            </a:r>
            <a:r>
              <a:rPr dirty="0" sz="1600" spc="1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AI</a:t>
            </a:r>
            <a:r>
              <a:rPr dirty="0" sz="1600" spc="1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Approach:</a:t>
            </a:r>
            <a:r>
              <a:rPr dirty="0" sz="1600" spc="1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Combines</a:t>
            </a:r>
            <a:r>
              <a:rPr dirty="0" sz="1600" spc="155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A</a:t>
            </a:r>
            <a:r>
              <a:rPr dirty="0" sz="1600" spc="12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Search</a:t>
            </a:r>
            <a:r>
              <a:rPr dirty="0" sz="1600" spc="160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Algorithm</a:t>
            </a:r>
            <a:r>
              <a:rPr dirty="0" sz="1600" spc="16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and</a:t>
            </a:r>
            <a:r>
              <a:rPr dirty="0" sz="1600" spc="155" i="1">
                <a:latin typeface="Arial"/>
                <a:cs typeface="Arial"/>
              </a:rPr>
              <a:t> </a:t>
            </a:r>
            <a:r>
              <a:rPr dirty="0" sz="1600" spc="-20" i="1">
                <a:latin typeface="Arial"/>
                <a:cs typeface="Arial"/>
              </a:rPr>
              <a:t>Q-</a:t>
            </a:r>
            <a:r>
              <a:rPr dirty="0" sz="1600" i="1">
                <a:latin typeface="Arial"/>
                <a:cs typeface="Arial"/>
              </a:rPr>
              <a:t>Learning</a:t>
            </a:r>
            <a:r>
              <a:rPr dirty="0" sz="1600" spc="17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Reinforcement</a:t>
            </a:r>
            <a:r>
              <a:rPr dirty="0" sz="1600" spc="175" i="1">
                <a:latin typeface="Arial"/>
                <a:cs typeface="Arial"/>
              </a:rPr>
              <a:t> </a:t>
            </a:r>
            <a:r>
              <a:rPr dirty="0" sz="1600" i="1">
                <a:latin typeface="Arial"/>
                <a:cs typeface="Arial"/>
              </a:rPr>
              <a:t>Learning</a:t>
            </a:r>
            <a:r>
              <a:rPr dirty="0" sz="1600">
                <a:latin typeface="Arial"/>
                <a:cs typeface="Arial"/>
              </a:rPr>
              <a:t>*</a:t>
            </a:r>
            <a:r>
              <a:rPr dirty="0" sz="1600" spc="1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1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achieve</a:t>
            </a:r>
            <a:r>
              <a:rPr dirty="0" sz="1600" spc="16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both </a:t>
            </a:r>
            <a:r>
              <a:rPr dirty="0" sz="1600">
                <a:latin typeface="Arial"/>
                <a:cs typeface="Arial"/>
              </a:rPr>
              <a:t>optimal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pathfinding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intelligent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capability.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ts val="1750"/>
              </a:lnSpc>
              <a:spcBef>
                <a:spcPts val="965"/>
              </a:spcBef>
            </a:pPr>
            <a:r>
              <a:rPr dirty="0" sz="1600" spc="-10">
                <a:latin typeface="Wingdings"/>
                <a:cs typeface="Wingdings"/>
              </a:rPr>
              <a:t></a:t>
            </a:r>
            <a:r>
              <a:rPr dirty="0" sz="1600" spc="-10">
                <a:latin typeface="Arial"/>
                <a:cs typeface="Arial"/>
              </a:rPr>
              <a:t>Self-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Navigation:</a:t>
            </a:r>
            <a:r>
              <a:rPr dirty="0" sz="1600" spc="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Unlike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traditional</a:t>
            </a:r>
            <a:r>
              <a:rPr dirty="0" sz="1600" spc="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algorithms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that</a:t>
            </a:r>
            <a:r>
              <a:rPr dirty="0" sz="1600" spc="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only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calculate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paths,</a:t>
            </a:r>
            <a:r>
              <a:rPr dirty="0" sz="1600" spc="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system</a:t>
            </a:r>
            <a:r>
              <a:rPr dirty="0" sz="1600" spc="114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allows</a:t>
            </a:r>
            <a:r>
              <a:rPr dirty="0" sz="1600" spc="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agent</a:t>
            </a:r>
            <a:r>
              <a:rPr dirty="0" sz="1600" spc="8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to </a:t>
            </a:r>
            <a:r>
              <a:rPr dirty="0" sz="1600">
                <a:latin typeface="Arial"/>
                <a:cs typeface="Arial"/>
              </a:rPr>
              <a:t>learn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from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previous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navigation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experiences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improve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future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decisions.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  <a:spcBef>
                <a:spcPts val="76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Adaptive</a:t>
            </a:r>
            <a:r>
              <a:rPr dirty="0" sz="1600" spc="30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</a:t>
            </a:r>
            <a:r>
              <a:rPr dirty="0" sz="1600" spc="3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Optimization:</a:t>
            </a:r>
            <a:r>
              <a:rPr dirty="0" sz="1600" spc="3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3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agent</a:t>
            </a:r>
            <a:r>
              <a:rPr dirty="0" sz="1600" spc="30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can</a:t>
            </a:r>
            <a:r>
              <a:rPr dirty="0" sz="1600" spc="30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dynamically</a:t>
            </a:r>
            <a:r>
              <a:rPr dirty="0" sz="1600" spc="3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adjust</a:t>
            </a:r>
            <a:r>
              <a:rPr dirty="0" sz="1600" spc="3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its</a:t>
            </a:r>
            <a:r>
              <a:rPr dirty="0" sz="1600" spc="3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route</a:t>
            </a:r>
            <a:r>
              <a:rPr dirty="0" sz="1600" spc="3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29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3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obstacles,</a:t>
            </a:r>
            <a:r>
              <a:rPr dirty="0" sz="1600" spc="3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environmental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</a:pPr>
            <a:r>
              <a:rPr dirty="0" sz="1600">
                <a:latin typeface="Arial"/>
                <a:cs typeface="Arial"/>
              </a:rPr>
              <a:t>changes,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learned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knowledge.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  <a:spcBef>
                <a:spcPts val="81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Intelligent</a:t>
            </a:r>
            <a:r>
              <a:rPr dirty="0" sz="1600" spc="1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Decision</a:t>
            </a:r>
            <a:r>
              <a:rPr dirty="0" sz="1600" spc="1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Making:</a:t>
            </a:r>
            <a:r>
              <a:rPr dirty="0" sz="1600" spc="1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Uses</a:t>
            </a:r>
            <a:r>
              <a:rPr dirty="0" sz="1600" spc="1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AI-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1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reasoning</a:t>
            </a:r>
            <a:r>
              <a:rPr dirty="0" sz="1600" spc="1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1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evaluate</a:t>
            </a:r>
            <a:r>
              <a:rPr dirty="0" sz="1600" spc="1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multiple</a:t>
            </a:r>
            <a:r>
              <a:rPr dirty="0" sz="1600" spc="1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possible</a:t>
            </a:r>
            <a:r>
              <a:rPr dirty="0" sz="1600" spc="1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paths</a:t>
            </a:r>
            <a:r>
              <a:rPr dirty="0" sz="1600" spc="1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1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select</a:t>
            </a:r>
            <a:r>
              <a:rPr dirty="0" sz="1600" spc="1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11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most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</a:pPr>
            <a:r>
              <a:rPr dirty="0" sz="1600">
                <a:latin typeface="Arial"/>
                <a:cs typeface="Arial"/>
              </a:rPr>
              <a:t>efficient</a:t>
            </a:r>
            <a:r>
              <a:rPr dirty="0" sz="1600" spc="-9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route.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35"/>
              </a:lnSpc>
              <a:spcBef>
                <a:spcPts val="790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Reduced</a:t>
            </a:r>
            <a:r>
              <a:rPr dirty="0" sz="1600" spc="3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Search</a:t>
            </a:r>
            <a:r>
              <a:rPr dirty="0" sz="1600" spc="3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Complexity:</a:t>
            </a:r>
            <a:r>
              <a:rPr dirty="0" sz="1600" spc="3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Minimizes</a:t>
            </a:r>
            <a:r>
              <a:rPr dirty="0" sz="1600" spc="3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unnecessary</a:t>
            </a:r>
            <a:r>
              <a:rPr dirty="0" sz="1600" spc="3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exploration</a:t>
            </a:r>
            <a:r>
              <a:rPr dirty="0" sz="1600" spc="3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by</a:t>
            </a:r>
            <a:r>
              <a:rPr dirty="0" sz="1600" spc="3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combining</a:t>
            </a:r>
            <a:r>
              <a:rPr dirty="0" sz="1600" spc="36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heuristic-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3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search</a:t>
            </a:r>
            <a:r>
              <a:rPr dirty="0" sz="1600" spc="34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with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35"/>
              </a:lnSpc>
            </a:pPr>
            <a:r>
              <a:rPr dirty="0" sz="1600">
                <a:latin typeface="Arial"/>
                <a:cs typeface="Arial"/>
              </a:rPr>
              <a:t>reinforcement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techniques.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Dynamic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Handling: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Capable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adapting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changing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maze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conditions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where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obstacles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paths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may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vary.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  <a:spcBef>
                <a:spcPts val="815"/>
              </a:spcBef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Visual</a:t>
            </a:r>
            <a:r>
              <a:rPr dirty="0" sz="1600" spc="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AI</a:t>
            </a:r>
            <a:r>
              <a:rPr dirty="0" sz="1600" spc="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Simulation:</a:t>
            </a:r>
            <a:r>
              <a:rPr dirty="0" sz="1600" spc="114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Provides</a:t>
            </a:r>
            <a:r>
              <a:rPr dirty="0" sz="1600" spc="13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real-</a:t>
            </a:r>
            <a:r>
              <a:rPr dirty="0" sz="1600">
                <a:latin typeface="Arial"/>
                <a:cs typeface="Arial"/>
              </a:rPr>
              <a:t>time</a:t>
            </a:r>
            <a:r>
              <a:rPr dirty="0" sz="1600" spc="10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visualization</a:t>
            </a:r>
            <a:r>
              <a:rPr dirty="0" sz="1600" spc="10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10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exploration,</a:t>
            </a:r>
            <a:r>
              <a:rPr dirty="0" sz="1600" spc="1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1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process,</a:t>
            </a:r>
            <a:r>
              <a:rPr dirty="0" sz="1600" spc="1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obstacle</a:t>
            </a:r>
            <a:r>
              <a:rPr dirty="0" sz="1600" spc="10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avoidance,</a:t>
            </a:r>
            <a:r>
              <a:rPr dirty="0" sz="1600" spc="114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</a:pPr>
            <a:r>
              <a:rPr dirty="0" sz="1600">
                <a:latin typeface="Arial"/>
                <a:cs typeface="Arial"/>
              </a:rPr>
              <a:t>final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optimized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path.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2981325" marR="5080" indent="-2835275">
              <a:lnSpc>
                <a:spcPts val="4750"/>
              </a:lnSpc>
              <a:spcBef>
                <a:spcPts val="695"/>
              </a:spcBef>
            </a:pPr>
            <a:r>
              <a:rPr dirty="0" b="1">
                <a:latin typeface="Arial"/>
                <a:cs typeface="Arial"/>
              </a:rPr>
              <a:t>BLOCK</a:t>
            </a:r>
            <a:r>
              <a:rPr dirty="0" spc="-1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DIAGRAM(PROPOSED SYSTEM)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728216"/>
            <a:ext cx="7687056" cy="48097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8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Hardware/Software</a:t>
            </a:r>
            <a:r>
              <a:rPr dirty="0" spc="-225"/>
              <a:t> </a:t>
            </a:r>
            <a:r>
              <a:rPr dirty="0" spc="-1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95652"/>
            <a:ext cx="5413375" cy="39503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325"/>
              </a:lnSpc>
              <a:spcBef>
                <a:spcPts val="105"/>
              </a:spcBef>
            </a:pPr>
            <a:r>
              <a:rPr dirty="0" sz="2800">
                <a:latin typeface="Arial"/>
                <a:cs typeface="Arial"/>
              </a:rPr>
              <a:t>Hardware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Requirement</a:t>
            </a:r>
            <a:r>
              <a:rPr dirty="0" sz="2800" spc="-1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1789"/>
              </a:lnSpc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Processor: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Intel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Core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i3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above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RAM: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4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GB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10">
                <a:latin typeface="Arial"/>
                <a:cs typeface="Arial"/>
              </a:rPr>
              <a:t> above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Storage: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256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GB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HDD/SSD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System: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Laptop/Desktop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Computer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</a:pP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>
                <a:latin typeface="Arial"/>
                <a:cs typeface="Arial"/>
              </a:rPr>
              <a:t>Input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Devices: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Keyboard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Mouse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800">
                <a:latin typeface="Arial"/>
                <a:cs typeface="Arial"/>
              </a:rPr>
              <a:t>Software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Requirement: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1945"/>
              </a:lnSpc>
              <a:spcBef>
                <a:spcPts val="810"/>
              </a:spcBef>
            </a:pPr>
            <a:r>
              <a:rPr dirty="0" sz="1700">
                <a:latin typeface="Wingdings"/>
                <a:cs typeface="Wingdings"/>
              </a:rPr>
              <a:t></a:t>
            </a:r>
            <a:r>
              <a:rPr dirty="0" sz="1700">
                <a:latin typeface="Arial"/>
                <a:cs typeface="Arial"/>
              </a:rPr>
              <a:t>Operating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System: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Windows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10/11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or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Linux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39"/>
              </a:lnSpc>
            </a:pPr>
            <a:r>
              <a:rPr dirty="0" sz="1700">
                <a:latin typeface="Wingdings"/>
                <a:cs typeface="Wingdings"/>
              </a:rPr>
              <a:t></a:t>
            </a:r>
            <a:r>
              <a:rPr dirty="0" sz="1700">
                <a:latin typeface="Arial"/>
                <a:cs typeface="Arial"/>
              </a:rPr>
              <a:t>Programming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Language: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Python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3.x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35"/>
              </a:lnSpc>
            </a:pPr>
            <a:r>
              <a:rPr dirty="0" sz="1700">
                <a:latin typeface="Wingdings"/>
                <a:cs typeface="Wingdings"/>
              </a:rPr>
              <a:t></a:t>
            </a:r>
            <a:r>
              <a:rPr dirty="0" sz="1700">
                <a:latin typeface="Arial"/>
                <a:cs typeface="Arial"/>
              </a:rPr>
              <a:t>IDE: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Visual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Studio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Code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/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PyCharm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35"/>
              </a:lnSpc>
            </a:pPr>
            <a:r>
              <a:rPr dirty="0" sz="1700">
                <a:latin typeface="Wingdings"/>
                <a:cs typeface="Wingdings"/>
              </a:rPr>
              <a:t></a:t>
            </a:r>
            <a:r>
              <a:rPr dirty="0" sz="1700">
                <a:latin typeface="Arial"/>
                <a:cs typeface="Arial"/>
              </a:rPr>
              <a:t>Libraries: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NumPy,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Pygame,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Matplotlib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35"/>
              </a:lnSpc>
            </a:pPr>
            <a:r>
              <a:rPr dirty="0" sz="1700" spc="-10">
                <a:latin typeface="Wingdings"/>
                <a:cs typeface="Wingdings"/>
              </a:rPr>
              <a:t></a:t>
            </a:r>
            <a:r>
              <a:rPr dirty="0" sz="1700" spc="-10">
                <a:latin typeface="Arial"/>
                <a:cs typeface="Arial"/>
              </a:rPr>
              <a:t>Algorithms: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A*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Search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Algorithm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and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Q-</a:t>
            </a:r>
            <a:r>
              <a:rPr dirty="0" sz="1700" spc="-10">
                <a:latin typeface="Arial"/>
                <a:cs typeface="Arial"/>
              </a:rPr>
              <a:t>Learning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945"/>
              </a:lnSpc>
            </a:pPr>
            <a:r>
              <a:rPr dirty="0" sz="1700" spc="-10">
                <a:latin typeface="Wingdings"/>
                <a:cs typeface="Wingdings"/>
              </a:rPr>
              <a:t></a:t>
            </a:r>
            <a:r>
              <a:rPr dirty="0" sz="1700" spc="-10">
                <a:latin typeface="Arial"/>
                <a:cs typeface="Arial"/>
              </a:rPr>
              <a:t>Visualization: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Graphical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Maze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Simulation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Environment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9156" rIns="0" bIns="0" rtlCol="0" vert="horz">
            <a:spAutoFit/>
          </a:bodyPr>
          <a:lstStyle/>
          <a:p>
            <a:pPr marL="262826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26133"/>
            <a:ext cx="9954895" cy="328549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666750">
              <a:lnSpc>
                <a:spcPts val="1939"/>
              </a:lnSpc>
              <a:spcBef>
                <a:spcPts val="345"/>
              </a:spcBef>
            </a:pPr>
            <a:r>
              <a:rPr dirty="0" sz="1800">
                <a:latin typeface="Wingdings"/>
                <a:cs typeface="Wingdings"/>
              </a:rPr>
              <a:t></a:t>
            </a:r>
            <a:r>
              <a:rPr dirty="0" sz="1800">
                <a:latin typeface="Arial"/>
                <a:cs typeface="Arial"/>
              </a:rPr>
              <a:t>Russell,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S.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Norvig,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P.,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Artificial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Intelligence:</a:t>
            </a:r>
            <a:r>
              <a:rPr dirty="0" sz="1800" spc="-1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</a:t>
            </a:r>
            <a:r>
              <a:rPr dirty="0" sz="1800" spc="-7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Modern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Approach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4th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Edition,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Pearson </a:t>
            </a:r>
            <a:r>
              <a:rPr dirty="0" sz="1800">
                <a:latin typeface="Arial"/>
                <a:cs typeface="Arial"/>
              </a:rPr>
              <a:t>Education,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2021.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dirty="0" sz="1800">
                <a:latin typeface="Wingdings"/>
                <a:cs typeface="Wingdings"/>
              </a:rPr>
              <a:t></a:t>
            </a:r>
            <a:r>
              <a:rPr dirty="0" sz="1800">
                <a:latin typeface="Arial"/>
                <a:cs typeface="Arial"/>
              </a:rPr>
              <a:t>Hart, </a:t>
            </a:r>
            <a:r>
              <a:rPr dirty="0" sz="1800" spc="-120">
                <a:latin typeface="Arial"/>
                <a:cs typeface="Arial"/>
              </a:rPr>
              <a:t>P.</a:t>
            </a:r>
            <a:r>
              <a:rPr dirty="0" sz="1800">
                <a:latin typeface="Arial"/>
                <a:cs typeface="Arial"/>
              </a:rPr>
              <a:t> E.,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Nilsson,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N. J.,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Raphael,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B.,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"A</a:t>
            </a:r>
            <a:r>
              <a:rPr dirty="0" sz="1800" spc="-1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Formal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Basis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 the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Heuristic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Determination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dirty="0" sz="1800">
                <a:latin typeface="Arial"/>
                <a:cs typeface="Arial"/>
              </a:rPr>
              <a:t>Minimum Cost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Paths",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IEEE</a:t>
            </a:r>
            <a:r>
              <a:rPr dirty="0" sz="1800" spc="1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Transactions</a:t>
            </a:r>
            <a:r>
              <a:rPr dirty="0" sz="1800" spc="-7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on Systems Science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and Cybernetics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1968.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Wingdings"/>
                <a:cs typeface="Wingdings"/>
              </a:rPr>
              <a:t></a:t>
            </a:r>
            <a:r>
              <a:rPr dirty="0" sz="1800">
                <a:latin typeface="Arial"/>
                <a:cs typeface="Arial"/>
              </a:rPr>
              <a:t>Watkins,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C.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J.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C. H.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Dayan,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P.,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"Q-Learning",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Machine</a:t>
            </a:r>
            <a:r>
              <a:rPr dirty="0" sz="1800" spc="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Learning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Journal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1992.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dirty="0" sz="1800">
                <a:latin typeface="Wingdings"/>
                <a:cs typeface="Wingdings"/>
              </a:rPr>
              <a:t></a:t>
            </a:r>
            <a:r>
              <a:rPr dirty="0" sz="1800">
                <a:latin typeface="Arial"/>
                <a:cs typeface="Arial"/>
              </a:rPr>
              <a:t>Sutton,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R. S.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Barto,</a:t>
            </a:r>
            <a:r>
              <a:rPr dirty="0" sz="1800" spc="-114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A.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G.,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Reinforcement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Learning:</a:t>
            </a:r>
            <a:r>
              <a:rPr dirty="0" sz="1800" spc="-1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</a:t>
            </a:r>
            <a:r>
              <a:rPr dirty="0" sz="1800" spc="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Introduction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2nd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Edition,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MIT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Press,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dirty="0" sz="1800" spc="-10">
                <a:latin typeface="Arial"/>
                <a:cs typeface="Arial"/>
              </a:rPr>
              <a:t>2018.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9344" y="6428638"/>
            <a:ext cx="390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Rajalakshmi</a:t>
            </a:r>
            <a:r>
              <a:rPr dirty="0" sz="1200" spc="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dirty="0" sz="1200" spc="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College,Department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 of</a:t>
            </a:r>
            <a:r>
              <a:rPr dirty="0" sz="1200" spc="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Cyber</a:t>
            </a:r>
            <a:r>
              <a:rPr dirty="0" sz="1200" spc="-3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2026-10-29T10:14:27Z</dcterms:created>
  <dcterms:modified xsi:type="dcterms:W3CDTF">2026-10-29T10:14:27Z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2026-10-29T00:00:00Z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2026-10-29T00:00:00Z</vt:filetime>
  </property>
</Properties>
</file>