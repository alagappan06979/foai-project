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9"/>
    <p:sldId id="280" r:id="rId8"/>
    <p:sldId id="281" r:id="rId7"/>
    <p:sldId id="282" r:id="rId6"/>
    <p:sldId id="283" r:id="rId5"/>
    <p:sldId id="284" r:id="rId4"/>
    <p:sldId id="285" r:id="rId3"/>
    <p:sldId id="267" r:id="rId21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" initials="H" lastIdx="1" clrIdx="0">
    <p:extLst>
      <p:ext uri="{19B8F6BF-5375-455C-9EA6-DF929625EA0E}">
        <p15:presenceInfo xmlns:p15="http://schemas.microsoft.com/office/powerpoint/2012/main" userId="HP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1004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19.xml"/><Relationship Id="rId4" Type="http://schemas.openxmlformats.org/officeDocument/2006/relationships/slide" Target="slides/slide18.xml"/><Relationship Id="rId5" Type="http://schemas.openxmlformats.org/officeDocument/2006/relationships/slide" Target="slides/slide17.xml"/><Relationship Id="rId6" Type="http://schemas.openxmlformats.org/officeDocument/2006/relationships/slide" Target="slides/slide16.xml"/><Relationship Id="rId7" Type="http://schemas.openxmlformats.org/officeDocument/2006/relationships/slide" Target="slides/slide15.xml"/><Relationship Id="rId8" Type="http://schemas.openxmlformats.org/officeDocument/2006/relationships/slide" Target="slides/slide14.xml"/><Relationship Id="rId9" Type="http://schemas.openxmlformats.org/officeDocument/2006/relationships/slide" Target="slides/slide13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commentAuthors" Target="commentAuthors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667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>
            <a:extLst>
              <a:ext uri="{FF2B5EF4-FFF2-40B4-BE49-F238E27FC236}">
                <a16:creationId xmlns:a16="http://schemas.microsoft.com/office/drawing/2014/main" id="{8D13192D-1816-F03A-9AF1-BBA902A8A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B6A37-AD04-C654-AC92-D9CC3ADF0A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8272B-7D6B-F3CE-953F-1079FFA8D8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F3314-4EF0-936B-77EE-175E9EF6B5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0965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A88B164-965D-9E09-9E7D-16374A9EAD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E044AE8-B23C-D8C6-4D87-EADCB1C0F0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E04F0FC-AAC5-064C-CDAD-FF80D73B38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67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E3D50AC-D896-487B-A964-4F2362A2FC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860975C-7E6F-6BD7-97FB-B68EFA315F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25DB3BD-FB8F-C610-9A37-B3ADF214A3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354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CC1F139-34C5-A295-F629-88EF76019A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B20EB37-7A2A-E49D-01DB-6418D7037D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4FAAEF5-CC11-F779-153E-E74E333E5A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587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E764D-F83F-9CC9-8E38-FEA9647AB7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BF83D4-B422-239C-8C38-4509A66ADB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1238FA-AFA9-8287-25C9-98D6042CFD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93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80D49F1-7BF0-A0A8-0C0A-9B4F1788B3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DDDAEBE-B0DA-0212-414B-C9FFC612D8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430D5C8-DD0F-C0FD-D016-9055C67C40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81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90400DB2-066A-4CAE-071C-1EAF9DDB72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AB14BBF-3825-C6B5-25F7-8686AAD7C3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84D417B-4541-5C9D-274F-9952E6F120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7779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0B1A011-C2F2-C9FC-9DD8-A4E6A00AA4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B4C95F2-7321-CEE1-4FD5-BE988C3BA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4AB3D0A-7C9E-40E8-0F27-0C737BD346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1495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31D201-6E7B-DD71-C865-2CC7682520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A474AB6-A9CC-8EC3-60F9-BBEDD90B03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14DF99B-1424-E931-A0EF-A2CCFECC39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98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E0854C1-7207-EF75-A61A-B4AF54A5D7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23D97B6-49D4-67F3-668F-9724FD3523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E4FA587-585B-1C1F-066D-B211962B0D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476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1D0F6A3-93FF-6A17-402C-31256BC457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B63A9F3-AD04-ED6E-E628-12170F70CE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1BD68DD-46F8-E148-C9DD-BDF1256D37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1953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D52653-E1AE-07CB-DCC9-CD2593D84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B93799-0450-059C-B337-0FA5C4C373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6B43BBB4-1099-054A-DDAC-B357DD3DA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986B2119-A42B-45B1-6DCF-EF7CC29004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C6B070B-4AFE-871D-87ED-86092999D2D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FA33AF8B-6600-80BC-AB7A-98E95CF9D7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1BD9409A-4B38-651E-F54D-ABAB5C4CEB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80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41A2FBB-F55B-9BAA-4EBD-7D6AD7B1D9C0}"/>
              </a:ext>
            </a:extLst>
          </p:cNvPr>
          <p:cNvSpPr txBox="1">
            <a:spLocks/>
          </p:cNvSpPr>
          <p:nvPr/>
        </p:nvSpPr>
        <p:spPr>
          <a:xfrm>
            <a:off x="789712" y="2530618"/>
            <a:ext cx="10515600" cy="1325563"/>
          </a:xfrm>
          <a:prstGeom prst="rect">
            <a:avLst/>
          </a:prstGeom>
        </p:spPr>
        <p:txBody>
          <a:bodyPr vert="horz" lIns="18288" tIns="18288" rIns="18288" bIns="18288" rtlCol="0" anchor="ctr" wrap="square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50" b="1">
                <a:solidFill>
                  <a:srgbClr val="6F3098"/>
                </a:solidFill>
                <a:latin typeface="Arial"/>
              </a:rPr>
              <a:t>AI BASED MAZE NAVIGATION AND</a:t>
            </a:r>
          </a:p>
          <a:p>
            <a:pPr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50" b="1">
                <a:solidFill>
                  <a:srgbClr val="6F3098"/>
                </a:solidFill>
                <a:latin typeface="Arial"/>
              </a:rPr>
              <a:t>PATHFINDING SYSTEM | REVIEW 2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2D19DAE3-8F95-230C-D485-225341D07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889" y="5175504"/>
            <a:ext cx="3429000" cy="950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" rIns="9144" tIns="9144" bIns="9144">
            <a:no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sz="1800" b="1">
                <a:solidFill>
                  <a:srgbClr val="C10000"/>
                </a:solidFill>
                <a:latin typeface="Arial"/>
              </a:rPr>
              <a:t>Supervisor: Dr. S. Bhuvana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C10000"/>
                </a:solidFill>
                <a:latin typeface="Arial"/>
              </a:rPr>
              <a:t>Assistant Professor (SG)</a:t>
            </a: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19A39F01-D00C-AF01-020F-6FE15F5B4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8079" y="5102352"/>
            <a:ext cx="3986784" cy="1115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" rIns="9144" tIns="9144" bIns="9144">
            <a:no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sz="1600" b="1">
                <a:solidFill>
                  <a:srgbClr val="C10000"/>
                </a:solidFill>
                <a:latin typeface="Arial"/>
              </a:rPr>
              <a:t>Team members: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C10000"/>
                </a:solidFill>
                <a:latin typeface="Arial"/>
              </a:rPr>
              <a:t>Alagappan R (241901003)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C10000"/>
                </a:solidFill>
                <a:latin typeface="Arial"/>
              </a:rPr>
              <a:t>Aswin J (241901010)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21851EC-AC90-1CBE-0738-0329685AB2AB}"/>
              </a:ext>
            </a:extLst>
          </p:cNvPr>
          <p:cNvSpPr txBox="1">
            <a:spLocks/>
          </p:cNvSpPr>
          <p:nvPr/>
        </p:nvSpPr>
        <p:spPr>
          <a:xfrm>
            <a:off x="754333" y="980728"/>
            <a:ext cx="10515600" cy="722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8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Department of Computer Science and Engineering</a:t>
            </a:r>
          </a:p>
          <a:p>
            <a:r>
              <a:rPr lang="en-IN" sz="18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(Cyber Security)</a:t>
            </a:r>
          </a:p>
          <a:p>
            <a:endParaRPr lang="en-IN" sz="2800" b="1" dirty="0">
              <a:solidFill>
                <a:srgbClr val="002060"/>
              </a:solidFill>
              <a:latin typeface="Verdana" panose="020B0604030504040204" pitchFamily="34" charset="0"/>
              <a:ea typeface="+mn-ea"/>
              <a:cs typeface="+mn-cs"/>
            </a:endParaRPr>
          </a:p>
        </p:txBody>
      </p:sp>
      <p:pic>
        <p:nvPicPr>
          <p:cNvPr id="12" name="Picture 11" descr="C:\Users\REC\Downloads\REC_Logo_Color_PNG_RGB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933065" cy="98072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1631504" y="1412776"/>
            <a:ext cx="101122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Verdana" panose="020B0604030504040204" pitchFamily="34" charset="0"/>
              </a:rPr>
              <a:t>CS23533– Foundations of Artificial Intelligence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873101" y="1916832"/>
            <a:ext cx="16033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2026-2027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3139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0000"/>
                </a:solidFill>
              </a:rPr>
              <a:t>Problem Statement and Motivation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841248" y="1847088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 i="0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1847088"/>
            <a:ext cx="10104120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100" b="0" i="0">
                <a:solidFill>
                  <a:srgbClr val="1F2D3E"/>
                </a:solidFill>
                <a:latin typeface="Arial"/>
              </a:rPr>
              <a:t>Classical maze solvers use one fixed strategy (DFS or BFS), expand cells far from the route and count moves, not cost.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816352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 i="0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816352"/>
            <a:ext cx="10104120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100" b="0" i="0">
                <a:solidFill>
                  <a:srgbClr val="1F2D3E"/>
                </a:solidFill>
                <a:latin typeface="Arial"/>
              </a:rPr>
              <a:t>A plan is computed once and never checked: when a corridor closes after planning, the agent walks into the new wall and stops.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785616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 i="0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785616"/>
            <a:ext cx="10104120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100" b="0" i="0">
                <a:solidFill>
                  <a:srgbClr val="1F2D3E"/>
                </a:solidFill>
                <a:latin typeface="Arial"/>
              </a:rPr>
              <a:t>Few tools compare search algorithms on the same mazes or measure what re-planning costs, and maze files are rarely validated.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754880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 i="0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4754880"/>
            <a:ext cx="10104120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100" b="0" i="0">
                <a:solidFill>
                  <a:srgbClr val="1F2D3E"/>
                </a:solidFill>
                <a:latin typeface="Arial"/>
              </a:rPr>
              <a:t>Our goal: an agent that plans optimally with A*, senses and re-plans when the maze changes, and handles files safely.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0000"/>
                </a:solidFill>
              </a:rPr>
              <a:t>Objectives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3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841248" y="1847088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 i="0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1847088"/>
            <a:ext cx="10104120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100" b="0" i="0">
                <a:solidFill>
                  <a:srgbClr val="1F2D3E"/>
                </a:solidFill>
                <a:latin typeface="Arial"/>
              </a:rPr>
              <a:t>Model the maze as a state space: cells, four moves, entry costs, and a sensing range for the moving agent.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816352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 i="0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816352"/>
            <a:ext cx="10104120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100" b="0" i="0">
                <a:solidFill>
                  <a:srgbClr val="1F2D3E"/>
                </a:solidFill>
                <a:latin typeface="Arial"/>
              </a:rPr>
              <a:t>Implement A* with BFS, DFS, Dijkstra and Greedy baselines on one maze model, and measure them on generated mazes.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785616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 i="0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785616"/>
            <a:ext cx="10104120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100" b="0" i="0">
                <a:solidFill>
                  <a:srgbClr val="1F2D3E"/>
                </a:solidFill>
                <a:latin typeface="Arial"/>
              </a:rPr>
              <a:t>Build a navigating agent that senses new walls, keeps a belief map and re-plans with A*; compare it with a fixed plan.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754880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 i="0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4754880"/>
            <a:ext cx="10104120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100" b="0" i="0">
                <a:solidFill>
                  <a:srgbClr val="1F2D3E"/>
                </a:solidFill>
                <a:latin typeface="Arial"/>
              </a:rPr>
              <a:t>Visualise every step in Pygame and load every file safely. Achieved so far: 24/24 tests, 400-maze search benchmark, 80 dynamic scenarios.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0000"/>
                </a:solidFill>
              </a:rPr>
              <a:t>Project Progress Since Review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4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841248" y="1847088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 i="0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1847088"/>
            <a:ext cx="10104120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2D3E"/>
                </a:solidFill>
                <a:latin typeface="Arial"/>
              </a:rPr>
              <a:t>Built dynamic mazes: cells of the planned route closed (door) or random walls added, always keeping the goal reachable.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816352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 i="0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816352"/>
            <a:ext cx="10104120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2D3E"/>
                </a:solidFill>
                <a:latin typeface="Arial"/>
              </a:rPr>
              <a:t>Implemented the navigating agent: belief map, sensing within range r and re-planning with A* from its current cell.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785616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 i="0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785616"/>
            <a:ext cx="10104120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2D3E"/>
                </a:solidFill>
                <a:latin typeface="Arial"/>
              </a:rPr>
              <a:t>Added a fixed-plan baseline and an oracle on the changed maze, plus SHA-256 digests and strict loading of maze files.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754880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 i="0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4754880"/>
            <a:ext cx="10104120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2D3E"/>
                </a:solidFill>
                <a:latin typeface="Arial"/>
              </a:rPr>
              <a:t>Completed 24 automated tests and experiments E1–E3; the interface shows the original plan, new walls and route driven.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0000"/>
                </a:solidFill>
              </a:rPr>
              <a:t>Literature Survey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" y="1755648"/>
          <a:ext cx="10972800" cy="347472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457200"/>
                <a:gridCol w="2011680"/>
                <a:gridCol w="3291840"/>
                <a:gridCol w="2468880"/>
                <a:gridCol w="2743200"/>
              </a:tblGrid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No.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0D2A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Author(s), Year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0D2A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Paper Title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0D2A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Method / Algorithm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0D2A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Limitations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0D2A54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Dijkstra (1959)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A Note on Two Problems in Connexion with Graphs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Uniform-cost shortest path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Explores in every direction; many cells expanded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Hart, Nilsson &amp; Raphael (1968)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A Formal Basis for the Heuristic Determination of Minimum Cost Paths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A* search, f = g + h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Needs a known map; savings depend on h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4F7FB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Stentz (1994)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Optimal and Efficient Path Planning for Partially-Known Environments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D*: re-planning as the map is corrected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Complex; designed for robots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34924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0" i="0">
                <a:solidFill>
                  <a:srgbClr val="5D6875"/>
                </a:solidFill>
                <a:latin typeface="Arial"/>
              </a:rPr>
              <a:t>Sources and limitations adapted from the Phase I Report, literature review (Section 2.1).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0000"/>
                </a:solidFill>
              </a:rPr>
              <a:t>Literature Survey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6</a:t>
            </a:fld>
            <a:endParaRPr lang="en-IN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" y="1755648"/>
          <a:ext cx="10972800" cy="347472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457200"/>
                <a:gridCol w="2011680"/>
                <a:gridCol w="3291840"/>
                <a:gridCol w="2468880"/>
                <a:gridCol w="2743200"/>
              </a:tblGrid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No.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0D2A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Author(s), Year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0D2A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Paper Title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0D2A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Method / Algorithm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0D2A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Limitations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0D2A54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Yamauchi (1997)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A Frontier-Based Approach for Autonomous Exploration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Frontier-based exploration with limited sensing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Explores; does not plan least-cost routes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Koenig &amp; Likhachev (2002)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D* Lite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Incremental re-planning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More complex than re-running A*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4F7FB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Harabor &amp; Grastien (2011)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Online Graph Pruning for Pathfinding on Grid Maps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Jump Point Search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D3E"/>
                          </a:solidFill>
                          <a:latin typeface="Arial"/>
                        </a:rPr>
                        <a:t>Uniform move costs only</a:t>
                      </a:r>
                    </a:p>
                  </a:txBody>
                  <a:tcPr marL="64008" marR="64008" marT="27432" marB="27432" anchor="ctr">
                    <a:lnL w="6350">
                      <a:solidFill>
                        <a:srgbClr val="C9D3DE"/>
                      </a:solidFill>
                    </a:lnL>
                    <a:lnR w="6350">
                      <a:solidFill>
                        <a:srgbClr val="C9D3DE"/>
                      </a:solidFill>
                    </a:lnR>
                    <a:lnT w="6350">
                      <a:solidFill>
                        <a:srgbClr val="C9D3DE"/>
                      </a:solidFill>
                    </a:lnT>
                    <a:lnB w="6350">
                      <a:solidFill>
                        <a:srgbClr val="C9D3D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34924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0" i="0">
                <a:solidFill>
                  <a:srgbClr val="5D6875"/>
                </a:solidFill>
                <a:latin typeface="Arial"/>
              </a:rPr>
              <a:t>These studies motivate sensing, belief-map updates and re-planning in our agent.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0000"/>
                </a:solidFill>
              </a:rPr>
              <a:t>Research Gap and Project Response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7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758952" y="1810512"/>
            <a:ext cx="5257800" cy="17373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41832" y="1947672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D2A54"/>
                </a:solidFill>
                <a:latin typeface="Arial"/>
              </a:rPr>
              <a:t>1. Literature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377440"/>
            <a:ext cx="489204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1F2D3E"/>
                </a:solidFill>
                <a:latin typeface="Arial"/>
              </a:rPr>
              <a:t>A* is optimal with an admissible heuristic; D* and D* Lite re-plan when a robot finds its map is wrong.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10512"/>
            <a:ext cx="5257800" cy="17373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55080" y="1947672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D2A54"/>
                </a:solidFill>
                <a:latin typeface="Arial"/>
              </a:rPr>
              <a:t>2.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77440"/>
            <a:ext cx="489204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1F2D3E"/>
                </a:solidFill>
                <a:latin typeface="Arial"/>
              </a:rPr>
              <a:t>Teaching tools plan once on a static map; the cost of re-planning and the role of sensing go unmeasured; files are loaded unsafely.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" y="3822191"/>
            <a:ext cx="5257800" cy="17373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41832" y="3959352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D2A54"/>
                </a:solidFill>
                <a:latin typeface="Arial"/>
              </a:rPr>
              <a:t>3. Refined research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389120"/>
            <a:ext cx="489204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1F2D3E"/>
                </a:solidFill>
                <a:latin typeface="Arial"/>
              </a:rPr>
              <a:t>No classroom-scale tool measures the search algorithms and re-planning after a change on the same mazes.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822191"/>
            <a:ext cx="5257800" cy="17373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3959352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 i="0">
                <a:solidFill>
                  <a:srgbClr val="0D2A54"/>
                </a:solidFill>
                <a:latin typeface="Arial"/>
              </a:rPr>
              <a:t>4. Progress toward the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389120"/>
            <a:ext cx="489204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1F2D3E"/>
                </a:solidFill>
                <a:latin typeface="Arial"/>
              </a:rPr>
              <a:t>All six modules built; re-planning A* reached the goal in 80/80 dynamic runs; 24/24 tests pass.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0000"/>
                </a:solidFill>
              </a:rPr>
              <a:t>System Architecture / Proposed System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8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2468880" cy="10515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5800" y="190195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700" b="1" i="0">
                <a:solidFill>
                  <a:srgbClr val="0D2A54"/>
                </a:solidFill>
                <a:latin typeface="Arial"/>
              </a:rPr>
              <a:t>Pygame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50" b="0" i="0">
                <a:solidFill>
                  <a:srgbClr val="5D6875"/>
                </a:solidFill>
                <a:latin typeface="Arial"/>
              </a:rPr>
              <a:t>Maze view, controls, statistics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72968" y="2359152"/>
            <a:ext cx="374904" cy="0"/>
          </a:xfrm>
          <a:prstGeom prst="line">
            <a:avLst/>
          </a:prstGeom>
          <a:ln w="31750">
            <a:solidFill>
              <a:srgbClr val="C1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66160" y="1828800"/>
            <a:ext cx="2468880" cy="10515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566160" y="190195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700" b="1" i="0">
                <a:solidFill>
                  <a:srgbClr val="0D2A54"/>
                </a:solidFill>
                <a:latin typeface="Arial"/>
              </a:rPr>
              <a:t>Maze environment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2860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50" b="0" i="0">
                <a:solidFill>
                  <a:srgbClr val="5D6875"/>
                </a:solidFill>
                <a:latin typeface="Arial"/>
              </a:rPr>
              <a:t>Grid, costs, validated loader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53328" y="2359152"/>
            <a:ext cx="374903" cy="0"/>
          </a:xfrm>
          <a:prstGeom prst="line">
            <a:avLst/>
          </a:prstGeom>
          <a:ln w="31750">
            <a:solidFill>
              <a:srgbClr val="C1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46520" y="1828800"/>
            <a:ext cx="2468880" cy="10515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46520" y="190195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700" b="1" i="0">
                <a:solidFill>
                  <a:srgbClr val="0D2A54"/>
                </a:solidFill>
                <a:latin typeface="Arial"/>
              </a:rPr>
              <a:t>Planner / navigator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22860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50" b="0" i="0">
                <a:solidFill>
                  <a:srgbClr val="5D6875"/>
                </a:solidFill>
                <a:latin typeface="Arial"/>
              </a:rPr>
              <a:t>A* + baselines · re-planning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933688" y="2359152"/>
            <a:ext cx="374904" cy="0"/>
          </a:xfrm>
          <a:prstGeom prst="line">
            <a:avLst/>
          </a:prstGeom>
          <a:ln w="31750">
            <a:solidFill>
              <a:srgbClr val="C1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326880" y="1828800"/>
            <a:ext cx="2468880" cy="10515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0" y="190195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700" b="1" i="0">
                <a:solidFill>
                  <a:srgbClr val="0D2A54"/>
                </a:solidFill>
                <a:latin typeface="Arial"/>
              </a:rPr>
              <a:t>Route and metrics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19" y="22860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50" b="0" i="0">
                <a:solidFill>
                  <a:srgbClr val="5D6875"/>
                </a:solidFill>
                <a:latin typeface="Arial"/>
              </a:rPr>
              <a:t>Path, cost, nodes, re-plans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611880"/>
            <a:ext cx="2286000" cy="9601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7240" y="3675887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00" b="1" i="0">
                <a:solidFill>
                  <a:srgbClr val="0D2A54"/>
                </a:solidFill>
                <a:latin typeface="Arial"/>
              </a:rPr>
              <a:t>Search algorithms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041648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0" i="0">
                <a:solidFill>
                  <a:srgbClr val="5D6875"/>
                </a:solidFill>
                <a:latin typeface="Arial"/>
              </a:rPr>
              <a:t>BFS · DFS · Dijkstra · Greedy · A*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0" y="3611880"/>
            <a:ext cx="2286000" cy="9601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657600" y="3675887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00" b="1" i="0">
                <a:solidFill>
                  <a:srgbClr val="0D2A54"/>
                </a:solidFill>
                <a:latin typeface="Arial"/>
              </a:rPr>
              <a:t>Dynamic navigation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4041648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0" i="0">
                <a:solidFill>
                  <a:srgbClr val="5D6875"/>
                </a:solidFill>
                <a:latin typeface="Arial"/>
              </a:rPr>
              <a:t>New walls · sensing range 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59" y="3611880"/>
            <a:ext cx="2286000" cy="9601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37959" y="3675887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00" b="1" i="0">
                <a:solidFill>
                  <a:srgbClr val="0D2A54"/>
                </a:solidFill>
                <a:latin typeface="Arial"/>
              </a:rPr>
              <a:t>Belief map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399" y="4041648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0" i="0">
                <a:solidFill>
                  <a:srgbClr val="5D6875"/>
                </a:solidFill>
                <a:latin typeface="Arial"/>
              </a:rPr>
              <a:t>Sensed walls · re-plan from here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18319" y="3611880"/>
            <a:ext cx="2286000" cy="9601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418319" y="3675887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00" b="1" i="0">
                <a:solidFill>
                  <a:srgbClr val="0D2A54"/>
                </a:solidFill>
                <a:latin typeface="Arial"/>
              </a:rPr>
              <a:t>Analysis and tests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59" y="4041648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0" i="0">
                <a:solidFill>
                  <a:srgbClr val="5D6875"/>
                </a:solidFill>
                <a:latin typeface="Arial"/>
              </a:rPr>
              <a:t>Benchmarks · 24 unit tests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93776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0" i="0">
                <a:solidFill>
                  <a:srgbClr val="5D6875"/>
                </a:solidFill>
                <a:latin typeface="Arial"/>
              </a:rPr>
              <a:t>Everything runs locally: no server, no network and no personal data; every maze file is validated and integrity-checked on load.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0000"/>
                </a:solidFill>
              </a:rPr>
              <a:t>DFD Diagram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9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548640" y="1801368"/>
            <a:ext cx="5989320" cy="39319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pic>
        <p:nvPicPr>
          <p:cNvPr id="8" name="Picture 7" descr="dfd_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1856231"/>
            <a:ext cx="5385816" cy="382219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20840" y="1801368"/>
            <a:ext cx="4937760" cy="39319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pic>
        <p:nvPicPr>
          <p:cNvPr id="10" name="Picture 9" descr="dfd_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7034" y="1856231"/>
            <a:ext cx="3385370" cy="38221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576072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0" i="0">
                <a:solidFill>
                  <a:srgbClr val="5D6875"/>
                </a:solidFill>
                <a:latin typeface="Arial"/>
              </a:rPr>
              <a:t>Level 0 (context) and Level 1 DFD. Stores: D3 belief map, D6 results, D8 maze files + digests. Level-2 diagrams are in the Phase I report.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0000"/>
                </a:solidFill>
              </a:rPr>
              <a:t>Methodology / Workflow Diagram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10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02920" y="1901952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00" b="1" i="0">
                <a:solidFill>
                  <a:srgbClr val="0D2A54"/>
                </a:solidFill>
                <a:latin typeface="Arial"/>
              </a:rPr>
              <a:t>01 ·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267712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0" i="0">
                <a:solidFill>
                  <a:srgbClr val="5D6875"/>
                </a:solidFill>
                <a:latin typeface="Arial"/>
              </a:rPr>
              <a:t>Maze type, size, seed or file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87168" y="2359152"/>
            <a:ext cx="283464" cy="0"/>
          </a:xfrm>
          <a:prstGeom prst="line">
            <a:avLst/>
          </a:prstGeom>
          <a:ln w="31750">
            <a:solidFill>
              <a:srgbClr val="C1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88920" y="1828800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788920" y="1901952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00" b="1" i="0">
                <a:solidFill>
                  <a:srgbClr val="0D2A54"/>
                </a:solidFill>
                <a:latin typeface="Arial"/>
              </a:rPr>
              <a:t>02 · VALIDATE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2072" y="2267712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0" i="0">
                <a:solidFill>
                  <a:srgbClr val="5D6875"/>
                </a:solidFill>
                <a:latin typeface="Arial"/>
              </a:rPr>
              <a:t>Digest, symbols, one S and 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73168" y="2359152"/>
            <a:ext cx="283463" cy="0"/>
          </a:xfrm>
          <a:prstGeom prst="line">
            <a:avLst/>
          </a:prstGeom>
          <a:ln w="31750">
            <a:solidFill>
              <a:srgbClr val="C1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74920" y="1828800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074920" y="1901952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00" b="1" i="0">
                <a:solidFill>
                  <a:srgbClr val="0D2A54"/>
                </a:solidFill>
                <a:latin typeface="Arial"/>
              </a:rPr>
              <a:t>03 ·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8072" y="2267712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0" i="0">
                <a:solidFill>
                  <a:srgbClr val="5D6875"/>
                </a:solidFill>
                <a:latin typeface="Arial"/>
              </a:rPr>
              <a:t>A* · BFS · DFS · Dijkstra · Greedy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59168" y="2359152"/>
            <a:ext cx="283463" cy="0"/>
          </a:xfrm>
          <a:prstGeom prst="line">
            <a:avLst/>
          </a:prstGeom>
          <a:ln w="31750">
            <a:solidFill>
              <a:srgbClr val="C1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60920" y="1828800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360920" y="1901952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00" b="1" i="0">
                <a:solidFill>
                  <a:srgbClr val="0D2A54"/>
                </a:solidFill>
                <a:latin typeface="Arial"/>
              </a:rPr>
              <a:t>04 · NAVIGATE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4072" y="2267712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0" i="0">
                <a:solidFill>
                  <a:srgbClr val="5D6875"/>
                </a:solidFill>
                <a:latin typeface="Arial"/>
              </a:rPr>
              <a:t>Sense · belief map · re-plan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345168" y="2359152"/>
            <a:ext cx="283464" cy="0"/>
          </a:xfrm>
          <a:prstGeom prst="line">
            <a:avLst/>
          </a:prstGeom>
          <a:ln w="31750">
            <a:solidFill>
              <a:srgbClr val="C1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646920" y="1828800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46920" y="1901952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00" b="1" i="0">
                <a:solidFill>
                  <a:srgbClr val="0D2A54"/>
                </a:solidFill>
                <a:latin typeface="Arial"/>
              </a:rPr>
              <a:t>05 ·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0072" y="2267712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0" i="0">
                <a:solidFill>
                  <a:srgbClr val="5D6875"/>
                </a:solidFill>
                <a:latin typeface="Arial"/>
              </a:rPr>
              <a:t>Path, route, metrics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63040" y="3657600"/>
            <a:ext cx="2743200" cy="9601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463040" y="3730752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00" b="1" i="0">
                <a:solidFill>
                  <a:srgbClr val="0D2A54"/>
                </a:solidFill>
                <a:latin typeface="Arial"/>
              </a:rPr>
              <a:t>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09651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50" b="0" i="0">
                <a:solidFill>
                  <a:srgbClr val="5D6875"/>
                </a:solidFill>
                <a:latin typeface="Arial"/>
              </a:rPr>
              <a:t>24 unit tests → all pass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224528" y="4133087"/>
            <a:ext cx="466344" cy="0"/>
          </a:xfrm>
          <a:prstGeom prst="line">
            <a:avLst/>
          </a:prstGeom>
          <a:ln w="31750">
            <a:solidFill>
              <a:srgbClr val="1D49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709160" y="3657600"/>
            <a:ext cx="2743200" cy="9601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709160" y="3730752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00" b="1" i="0">
                <a:solidFill>
                  <a:srgbClr val="0D2A54"/>
                </a:solidFill>
                <a:latin typeface="Arial"/>
              </a:rPr>
              <a:t>BENCHMARK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409651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50" b="0" i="0">
                <a:solidFill>
                  <a:srgbClr val="5D6875"/>
                </a:solidFill>
                <a:latin typeface="Arial"/>
              </a:rPr>
              <a:t>E1–E4 with fixed seeds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470648" y="4133087"/>
            <a:ext cx="466344" cy="0"/>
          </a:xfrm>
          <a:prstGeom prst="line">
            <a:avLst/>
          </a:prstGeom>
          <a:ln w="31750">
            <a:solidFill>
              <a:srgbClr val="1D49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955279" y="3657600"/>
            <a:ext cx="2743200" cy="9601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955279" y="3730752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00" b="1" i="0">
                <a:solidFill>
                  <a:srgbClr val="0D2A54"/>
                </a:solidFill>
                <a:latin typeface="Arial"/>
              </a:rPr>
              <a:t>VISUALISE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19" y="409651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50" b="0" i="0">
                <a:solidFill>
                  <a:srgbClr val="5D6875"/>
                </a:solidFill>
                <a:latin typeface="Arial"/>
              </a:rPr>
              <a:t>Pygame views and charts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98348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0" i="0">
                <a:solidFill>
                  <a:srgbClr val="5D6875"/>
                </a:solidFill>
                <a:latin typeface="Arial"/>
              </a:rPr>
              <a:t>No dataset or training data is needed: mazes are generated from a seed and every result can be regenerated.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0000"/>
                </a:solidFill>
              </a:rPr>
              <a:t>Tools and Technologies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11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841248" y="1847088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 i="0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1847088"/>
            <a:ext cx="10104120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2D3E"/>
                </a:solidFill>
                <a:latin typeface="Arial"/>
              </a:rPr>
              <a:t>Language and data: Python 3.13; NumPy 2.5 for the wall grid and cost map.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816352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 i="0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816352"/>
            <a:ext cx="10104120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2D3E"/>
                </a:solidFill>
                <a:latin typeface="Arial"/>
              </a:rPr>
              <a:t>Interface: Pygame 2.6 window with animated search, comparison view and dynamic navigation view.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785616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 i="0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785616"/>
            <a:ext cx="10104120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2D3E"/>
                </a:solidFill>
                <a:latin typeface="Arial"/>
              </a:rPr>
              <a:t>Validation: Python unittest (24 tests), a fixed-seed experiment runner and Matplotlib 3.11 charts.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754880"/>
            <a:ext cx="27432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 i="0">
                <a:solidFill>
                  <a:srgbClr val="C10000"/>
                </a:solidFill>
                <a:latin typeface="Arial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4754880"/>
            <a:ext cx="10104120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2D3E"/>
                </a:solidFill>
                <a:latin typeface="Arial"/>
              </a:rPr>
              <a:t>Security: allow-list maze parser, SHA-256 digests with a strict mode, and resource caps. No GPU or dataset.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0000"/>
                </a:solidFill>
              </a:rPr>
              <a:t>List of Modules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12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850392" y="1810512"/>
            <a:ext cx="10515600" cy="539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14984" y="1901952"/>
            <a:ext cx="54864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850" b="1" i="0">
                <a:solidFill>
                  <a:srgbClr val="C10000"/>
                </a:solidFill>
                <a:latin typeface="Arial"/>
              </a:rPr>
              <a:t>M1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883664"/>
            <a:ext cx="7498079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900" b="1" i="0">
                <a:solidFill>
                  <a:srgbClr val="1F2D3E"/>
                </a:solidFill>
                <a:latin typeface="Arial"/>
              </a:rPr>
              <a:t>Maze environment and representation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1901952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700" b="1" i="0">
                <a:solidFill>
                  <a:srgbClr val="166B46"/>
                </a:solidFill>
                <a:latin typeface="Arial"/>
              </a:rPr>
              <a:t>✓ Completed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" y="2432304"/>
            <a:ext cx="10515600" cy="539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523744"/>
            <a:ext cx="54864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850" b="1" i="0">
                <a:solidFill>
                  <a:srgbClr val="C10000"/>
                </a:solidFill>
                <a:latin typeface="Arial"/>
              </a:rPr>
              <a:t>M2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505456"/>
            <a:ext cx="7498079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900" b="1" i="0">
                <a:solidFill>
                  <a:srgbClr val="1F2D3E"/>
                </a:solidFill>
                <a:latin typeface="Arial"/>
              </a:rPr>
              <a:t>Search algorithms (BFS, DFS, Dijkstra, Greedy, A*)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523744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700" b="1" i="0">
                <a:solidFill>
                  <a:srgbClr val="166B46"/>
                </a:solidFill>
                <a:latin typeface="Arial"/>
              </a:rPr>
              <a:t>✓ Completed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" y="3054096"/>
            <a:ext cx="10515600" cy="539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14984" y="3145536"/>
            <a:ext cx="54864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850" b="1" i="0">
                <a:solidFill>
                  <a:srgbClr val="C10000"/>
                </a:solidFill>
                <a:latin typeface="Arial"/>
              </a:rPr>
              <a:t>M3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127248"/>
            <a:ext cx="7498079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900" b="1" i="0">
                <a:solidFill>
                  <a:srgbClr val="1F2D3E"/>
                </a:solidFill>
                <a:latin typeface="Arial"/>
              </a:rPr>
              <a:t>Dynamic navigation and re-planning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3145536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700" b="1" i="0">
                <a:solidFill>
                  <a:srgbClr val="166B46"/>
                </a:solidFill>
                <a:latin typeface="Arial"/>
              </a:rPr>
              <a:t>✓ Completed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" y="3675887"/>
            <a:ext cx="10515600" cy="539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14984" y="3767327"/>
            <a:ext cx="54864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850" b="1" i="0">
                <a:solidFill>
                  <a:srgbClr val="C10000"/>
                </a:solidFill>
                <a:latin typeface="Arial"/>
              </a:rPr>
              <a:t>M4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749039"/>
            <a:ext cx="7498079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900" b="1" i="0">
                <a:solidFill>
                  <a:srgbClr val="1F2D3E"/>
                </a:solidFill>
                <a:latin typeface="Arial"/>
              </a:rPr>
              <a:t>Visualisation and user interface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3767327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700" b="1" i="0">
                <a:solidFill>
                  <a:srgbClr val="166B46"/>
                </a:solidFill>
                <a:latin typeface="Arial"/>
              </a:rPr>
              <a:t>✓ Completed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" y="4297680"/>
            <a:ext cx="10515600" cy="539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14984" y="4389120"/>
            <a:ext cx="54864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850" b="1" i="0">
                <a:solidFill>
                  <a:srgbClr val="C10000"/>
                </a:solidFill>
                <a:latin typeface="Arial"/>
              </a:rPr>
              <a:t>M5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370832"/>
            <a:ext cx="7498079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900" b="1" i="0">
                <a:solidFill>
                  <a:srgbClr val="1F2D3E"/>
                </a:solidFill>
                <a:latin typeface="Arial"/>
              </a:rPr>
              <a:t>Performance analysis and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389120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700" b="1" i="0">
                <a:solidFill>
                  <a:srgbClr val="B26A00"/>
                </a:solidFill>
                <a:latin typeface="Arial"/>
              </a:rPr>
              <a:t>◐ In progress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0392" y="4919472"/>
            <a:ext cx="10515600" cy="539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14984" y="5010912"/>
            <a:ext cx="54864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850" b="1" i="0">
                <a:solidFill>
                  <a:srgbClr val="C10000"/>
                </a:solidFill>
                <a:latin typeface="Arial"/>
              </a:rPr>
              <a:t>M6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992624"/>
            <a:ext cx="7498079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900" b="1" i="0">
                <a:solidFill>
                  <a:srgbClr val="1F2D3E"/>
                </a:solidFill>
                <a:latin typeface="Arial"/>
              </a:rPr>
              <a:t>Secure file handling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5010912"/>
            <a:ext cx="214884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700" b="1" i="0">
                <a:solidFill>
                  <a:srgbClr val="166B46"/>
                </a:solidFill>
                <a:latin typeface="Arial"/>
              </a:rPr>
              <a:t>✓ Completed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62356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0" i="0">
                <a:solidFill>
                  <a:srgbClr val="5D6875"/>
                </a:solidFill>
                <a:latin typeface="Arial"/>
              </a:rPr>
              <a:t>Module mapping follows the Phase I report (Table 3.3). M5: experiment E4 (sensing range) and the final charts remain.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0000"/>
                </a:solidFill>
              </a:rPr>
              <a:t>Module Implementation – Part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13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548640" y="1801368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1865376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600" b="1" i="0">
                <a:solidFill>
                  <a:srgbClr val="0D2A54"/>
                </a:solidFill>
                <a:latin typeface="Arial"/>
              </a:rPr>
              <a:t>MODULE 1 · MAZE 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31136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300" b="0" i="0">
                <a:solidFill>
                  <a:srgbClr val="5D6875"/>
                </a:solidFill>
                <a:latin typeface="Arial"/>
              </a:rPr>
              <a:t>Wall grid + cost map · four generators · validated loader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01368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17920" y="1865376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600" b="1" i="0">
                <a:solidFill>
                  <a:srgbClr val="0D2A54"/>
                </a:solidFill>
                <a:latin typeface="Arial"/>
              </a:rPr>
              <a:t>MODULE 2 · SEARCH ALGORITHMS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2231136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300" b="0" i="0">
                <a:solidFill>
                  <a:srgbClr val="5D6875"/>
                </a:solidFill>
                <a:latin typeface="Arial"/>
              </a:rPr>
              <a:t>BFS · DFS · Dijkstra · Greedy · A* behind one interface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718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700" b="1" i="0">
                <a:solidFill>
                  <a:srgbClr val="0D2A54"/>
                </a:solidFill>
                <a:latin typeface="Arial"/>
              </a:rPr>
              <a:t>Maze model and generators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83280"/>
            <a:ext cx="521208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sz="1550" b="0" i="0">
                <a:solidFill>
                  <a:srgbClr val="1F2D3E"/>
                </a:solidFill>
                <a:latin typeface="Arial"/>
              </a:rPr>
              <a:t>Perfect, braided, open-field and weighted mazes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sz="1550" b="0" i="0">
                <a:solidFill>
                  <a:srgbClr val="1F2D3E"/>
                </a:solidFill>
                <a:latin typeface="Arial"/>
              </a:rPr>
              <a:t>Text format # . ~ S G with an allow-list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sz="1550" b="0" i="0">
                <a:solidFill>
                  <a:srgbClr val="1F2D3E"/>
                </a:solidFill>
                <a:latin typeface="Arial"/>
              </a:rPr>
              <a:t>At most 201 × 201 cells; exactly one S and one 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9718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700" b="1" i="0">
                <a:solidFill>
                  <a:srgbClr val="0D2A54"/>
                </a:solidFill>
                <a:latin typeface="Arial"/>
              </a:rPr>
              <a:t>Search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383280"/>
            <a:ext cx="521208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sz="1550" b="0" i="0">
                <a:solidFill>
                  <a:srgbClr val="1F2D3E"/>
                </a:solidFill>
                <a:latin typeface="Arial"/>
              </a:rPr>
              <a:t>One best-first search: f = g + h (A*), h only (Greedy), g only (Dijkstra)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sz="1550" b="0" i="0">
                <a:solidFill>
                  <a:srgbClr val="1F2D3E"/>
                </a:solidFill>
                <a:latin typeface="Arial"/>
              </a:rPr>
              <a:t>Ties broken towards the larger g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sz="1550" b="0" i="0">
                <a:solidFill>
                  <a:srgbClr val="1F2D3E"/>
                </a:solidFill>
                <a:latin typeface="Arial"/>
              </a:rPr>
              <a:t>Records nodes, frontier, path cost and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57784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0" i="0">
                <a:solidFill>
                  <a:srgbClr val="5D6875"/>
                </a:solidFill>
                <a:latin typeface="Arial"/>
              </a:rPr>
              <a:t>Verified: A* matches Dijkstra’s optimal cost on all 400 benchmark mazes.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0000"/>
                </a:solidFill>
              </a:rPr>
              <a:t>Module Implementation – Part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14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548640" y="1801368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1865376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600" b="1" i="0">
                <a:solidFill>
                  <a:srgbClr val="0D2A54"/>
                </a:solidFill>
                <a:latin typeface="Arial"/>
              </a:rPr>
              <a:t>MODULE 3 · DYNAMIC NAVIGATION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31136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300" b="0" i="0">
                <a:solidFill>
                  <a:srgbClr val="5D6875"/>
                </a:solidFill>
                <a:latin typeface="Arial"/>
              </a:rPr>
              <a:t>New walls · sensing range r · re-planning A*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01368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17920" y="1865376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600" b="1" i="0">
                <a:solidFill>
                  <a:srgbClr val="0D2A54"/>
                </a:solidFill>
                <a:latin typeface="Arial"/>
              </a:rPr>
              <a:t>MODULE 6 · SECURE FILE HANDLING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2231136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300" b="0" i="0">
                <a:solidFill>
                  <a:srgbClr val="5D6875"/>
                </a:solidFill>
                <a:latin typeface="Arial"/>
              </a:rPr>
              <a:t>Byte cap · SHA-256 digest · allow-list ·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718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700" b="1" i="0">
                <a:solidFill>
                  <a:srgbClr val="0D2A54"/>
                </a:solidFill>
                <a:latin typeface="Arial"/>
              </a:rPr>
              <a:t>Navigation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83280"/>
            <a:ext cx="521208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550" b="0" i="0">
                <a:solidFill>
                  <a:srgbClr val="1F2D3E"/>
                </a:solidFill>
                <a:latin typeface="Arial"/>
              </a:rPr>
              <a:t>1. Follow the A* plan one move</a:t>
            </a:r>
          </a:p>
          <a:p>
            <a:pPr algn="l">
              <a:spcAft>
                <a:spcPts val="600"/>
              </a:spcAft>
            </a:pPr>
            <a:r>
              <a:rPr sz="1550" b="0" i="0">
                <a:solidFill>
                  <a:srgbClr val="1F2D3E"/>
                </a:solidFill>
                <a:latin typeface="Arial"/>
              </a:rPr>
              <a:t>2. Sense the walls within range r</a:t>
            </a:r>
          </a:p>
          <a:p>
            <a:pPr algn="l">
              <a:spcAft>
                <a:spcPts val="600"/>
              </a:spcAft>
            </a:pPr>
            <a:r>
              <a:rPr sz="1550" b="0" i="0">
                <a:solidFill>
                  <a:srgbClr val="1F2D3E"/>
                </a:solidFill>
                <a:latin typeface="Arial"/>
              </a:rPr>
              <a:t>3. Record new walls in the belief map</a:t>
            </a:r>
          </a:p>
          <a:p>
            <a:pPr algn="l">
              <a:spcAft>
                <a:spcPts val="600"/>
              </a:spcAft>
            </a:pPr>
            <a:r>
              <a:rPr sz="1550" b="0" i="0">
                <a:solidFill>
                  <a:srgbClr val="1F2D3E"/>
                </a:solidFill>
                <a:latin typeface="Arial"/>
              </a:rPr>
              <a:t>4. Re-plan from here if the plan is blocked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9718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700" b="1" i="0">
                <a:solidFill>
                  <a:srgbClr val="0D2A54"/>
                </a:solidFill>
                <a:latin typeface="Arial"/>
              </a:rPr>
              <a:t>Implementation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383280"/>
            <a:ext cx="521208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sz="1550" b="0" i="0">
                <a:solidFill>
                  <a:srgbClr val="1F2D3E"/>
                </a:solidFill>
                <a:latin typeface="Arial"/>
              </a:rPr>
              <a:t>Re-planning reached G in all 80 dynamic runs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sz="1550" b="0" i="0">
                <a:solidFill>
                  <a:srgbClr val="1F2D3E"/>
                </a:solidFill>
                <a:latin typeface="Arial"/>
              </a:rPr>
              <a:t>The fixed plan failed in 66 of 80</a:t>
            </a:r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sz="1550" b="0" i="0">
                <a:solidFill>
                  <a:srgbClr val="1F2D3E"/>
                </a:solidFill>
                <a:latin typeface="Arial"/>
              </a:rPr>
              <a:t>A maze changed after saving fails its SHA-256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57784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0" i="0">
                <a:solidFill>
                  <a:srgbClr val="5D6875"/>
                </a:solidFill>
                <a:latin typeface="Arial"/>
              </a:rPr>
              <a:t>Module 4 animates the modules; Module 5 runs the controlled experiments.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0000"/>
                </a:solidFill>
              </a:rPr>
              <a:t>Preliminary Results and Discussion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15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841248" y="1755648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800" b="1" i="0">
                <a:solidFill>
                  <a:srgbClr val="0D2A54"/>
                </a:solidFill>
                <a:latin typeface="Arial"/>
              </a:rPr>
              <a:t>61 × 61 open-field mazes · mean of 20 mazes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2212848"/>
            <a:ext cx="3447288" cy="16459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6384" y="2331720"/>
            <a:ext cx="32461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800" b="1" i="0">
                <a:solidFill>
                  <a:srgbClr val="0D2A54"/>
                </a:solidFill>
                <a:latin typeface="Arial"/>
              </a:rPr>
              <a:t>BFS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743200"/>
            <a:ext cx="324612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2670" b="1" i="0">
                <a:solidFill>
                  <a:srgbClr val="C10000"/>
                </a:solidFill>
                <a:latin typeface="Arial"/>
              </a:rPr>
              <a:t>2,766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337560"/>
            <a:ext cx="3310128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40" b="0" i="0">
                <a:solidFill>
                  <a:srgbClr val="5D6875"/>
                </a:solidFill>
                <a:latin typeface="Arial"/>
              </a:rPr>
              <a:t>baseline  ·  8.12 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35424" y="2212848"/>
            <a:ext cx="3447288" cy="16459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626864" y="2331720"/>
            <a:ext cx="32461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800" b="1" i="0">
                <a:solidFill>
                  <a:srgbClr val="0D2A54"/>
                </a:solidFill>
                <a:latin typeface="Arial"/>
              </a:rPr>
              <a:t>A* (Manhattan)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743200"/>
            <a:ext cx="324612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2670" b="1" i="0">
                <a:solidFill>
                  <a:srgbClr val="0D2A54"/>
                </a:solidFill>
                <a:latin typeface="Arial"/>
              </a:rPr>
              <a:t>451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337560"/>
            <a:ext cx="3310128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40" b="0" i="0">
                <a:solidFill>
                  <a:srgbClr val="5D6875"/>
                </a:solidFill>
                <a:latin typeface="Arial"/>
              </a:rPr>
              <a:t>84 % fewer nodes  ·  2.30 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75904" y="2212848"/>
            <a:ext cx="3447288" cy="16459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467344" y="2331720"/>
            <a:ext cx="32461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800" b="1" i="0">
                <a:solidFill>
                  <a:srgbClr val="0D2A54"/>
                </a:solidFill>
                <a:latin typeface="Arial"/>
              </a:rPr>
              <a:t>Greedy Best-First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344" y="2743200"/>
            <a:ext cx="324612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2670" b="1" i="0">
                <a:solidFill>
                  <a:srgbClr val="0D2A54"/>
                </a:solidFill>
                <a:latin typeface="Arial"/>
              </a:rPr>
              <a:t>181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3337560"/>
            <a:ext cx="3310128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40" b="0" i="0">
                <a:solidFill>
                  <a:srgbClr val="5D6875"/>
                </a:solidFill>
                <a:latin typeface="Arial"/>
              </a:rPr>
              <a:t>paths 19 % costlier than optimal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69080"/>
            <a:ext cx="3246120" cy="129844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1248" y="4169663"/>
            <a:ext cx="3026664" cy="4480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2650" b="1" i="0">
                <a:solidFill>
                  <a:srgbClr val="0D2A54"/>
                </a:solidFill>
                <a:latin typeface="Arial"/>
              </a:rPr>
              <a:t>80 / 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700016"/>
            <a:ext cx="306324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90" b="0" i="0">
                <a:solidFill>
                  <a:srgbClr val="5D6875"/>
                </a:solidFill>
                <a:latin typeface="Arial"/>
              </a:rPr>
              <a:t>dynamic runs reaching G with re-planning (fixed plan: 14 / 80)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35424" y="4069080"/>
            <a:ext cx="3246120" cy="129844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645152" y="4169663"/>
            <a:ext cx="3026664" cy="4480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2650" b="1" i="0">
                <a:solidFill>
                  <a:srgbClr val="0D2A54"/>
                </a:solidFill>
                <a:latin typeface="Arial"/>
              </a:rPr>
              <a:t>400 / 400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6864" y="4700016"/>
            <a:ext cx="306324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90" b="0" i="0">
                <a:solidFill>
                  <a:srgbClr val="5D6875"/>
                </a:solidFill>
                <a:latin typeface="Arial"/>
              </a:rPr>
              <a:t>optimal paths from A*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39328" y="4069080"/>
            <a:ext cx="3246120" cy="129844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449056" y="4169663"/>
            <a:ext cx="3026664" cy="4480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2650" b="1" i="0">
                <a:solidFill>
                  <a:srgbClr val="0D2A54"/>
                </a:solidFill>
                <a:latin typeface="Arial"/>
              </a:rPr>
              <a:t>24 / 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8" y="4700016"/>
            <a:ext cx="306324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90" b="0" i="0">
                <a:solidFill>
                  <a:srgbClr val="5D6875"/>
                </a:solidFill>
                <a:latin typeface="Arial"/>
              </a:rPr>
              <a:t>automated tests pass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559552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0" i="0">
                <a:solidFill>
                  <a:srgbClr val="5D6875"/>
                </a:solidFill>
                <a:latin typeface="Arial"/>
              </a:rPr>
              <a:t>E1: 400 mazes, 2,000 searches · E3: 80 dynamic runs · results from the Phase I report, Chapter 4.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0000"/>
                </a:solidFill>
              </a:rPr>
              <a:t>User Interface / Implementation Screenshots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16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658368" y="1801368"/>
            <a:ext cx="5394960" cy="41148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pic>
        <p:nvPicPr>
          <p:cNvPr id="8" name="Picture 7" descr="gui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015714"/>
            <a:ext cx="5120640" cy="323805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4088" y="5413248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70" b="0" i="0">
                <a:solidFill>
                  <a:srgbClr val="1D4980"/>
                </a:solidFill>
                <a:latin typeface="Arial"/>
              </a:rPr>
              <a:t>Comparison view: BFS, DFS, Greedy and A* on one maze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1801368"/>
            <a:ext cx="5394960" cy="41148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pic>
        <p:nvPicPr>
          <p:cNvPr id="11" name="Picture 10" descr="gui_dynami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15714"/>
            <a:ext cx="5120640" cy="323805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90488" y="5413248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70" b="0" i="0">
                <a:solidFill>
                  <a:srgbClr val="1D4980"/>
                </a:solidFill>
                <a:latin typeface="Arial"/>
              </a:rPr>
              <a:t>Navigation: three new walls, three re-plans to reach 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0000"/>
                </a:solidFill>
              </a:rPr>
              <a:t>Challenges Faced and Solutions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17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685800" y="1810512"/>
            <a:ext cx="108356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283464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rgbClr val="0D2A54"/>
                </a:solidFill>
                <a:latin typeface="Arial"/>
              </a:rPr>
              <a:t>Plans broken by new walls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883664"/>
            <a:ext cx="754380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rgbClr val="1F2D3E"/>
                </a:solidFill>
                <a:latin typeface="Arial"/>
              </a:rPr>
              <a:t>The agent senses walls within range r, records them in its belief map and re-plans with A* from its current cell.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43200"/>
            <a:ext cx="108356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283464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rgbClr val="0D2A54"/>
                </a:solidFill>
                <a:latin typeface="Arial"/>
              </a:rPr>
              <a:t>Walls found too 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816352"/>
            <a:ext cx="754380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rgbClr val="1F2D3E"/>
                </a:solidFill>
                <a:latin typeface="Arial"/>
              </a:rPr>
              <a:t>With range 1 the agent meets a wall only on arrival and walks back (mean detour 12–23 %); a longer range is being studied.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675887"/>
            <a:ext cx="108356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68680" y="3767327"/>
            <a:ext cx="283464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rgbClr val="0D2A54"/>
                </a:solidFill>
                <a:latin typeface="Arial"/>
              </a:rPr>
              <a:t>Keeping the goal reachable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749039"/>
            <a:ext cx="754380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rgbClr val="1F2D3E"/>
                </a:solidFill>
                <a:latin typeface="Arial"/>
              </a:rPr>
              <a:t>Every new wall is checked with BFS before it is kept, so each dynamic scenario stays solvable.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608576"/>
            <a:ext cx="108356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68680" y="4700016"/>
            <a:ext cx="283464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 i="0">
                <a:solidFill>
                  <a:srgbClr val="0D2A54"/>
                </a:solidFill>
                <a:latin typeface="Arial"/>
              </a:rPr>
              <a:t>Tampered maze 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681728"/>
            <a:ext cx="754380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rgbClr val="1F2D3E"/>
                </a:solidFill>
                <a:latin typeface="Arial"/>
              </a:rPr>
              <a:t>Saved mazes carry a SHA-256 digest; a changed file is rejected, and --strict demands a digest.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7784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0" i="0">
                <a:solidFill>
                  <a:srgbClr val="5D6875"/>
                </a:solidFill>
                <a:latin typeface="Arial"/>
              </a:rPr>
              <a:t>Remaining: experiment E4 on the sensing range and the final charts.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0000"/>
                </a:solidFill>
              </a:rPr>
              <a:t>Work Plan Until Final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18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685800" y="1810512"/>
            <a:ext cx="108356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283464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1" i="0">
                <a:solidFill>
                  <a:srgbClr val="0D2A54"/>
                </a:solidFill>
                <a:latin typeface="Arial"/>
              </a:rPr>
              <a:t>1 · SENSING 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883664"/>
            <a:ext cx="754380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rgbClr val="1F2D3E"/>
                </a:solidFill>
                <a:latin typeface="Arial"/>
              </a:rPr>
              <a:t>Run E4 on 31 × 31 mazes: 4–32 new walls × sensing range 1, 3 and 5; measure detour and re-plans.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43200"/>
            <a:ext cx="108356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283464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1" i="0">
                <a:solidFill>
                  <a:srgbClr val="0D2A54"/>
                </a:solidFill>
                <a:latin typeface="Arial"/>
              </a:rPr>
              <a:t>2 · INTERFACE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816352"/>
            <a:ext cx="754380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rgbClr val="1F2D3E"/>
                </a:solidFill>
                <a:latin typeface="Arial"/>
              </a:rPr>
              <a:t>Add the sensing-range option and show short- and long-range navigation side by side.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675887"/>
            <a:ext cx="108356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68680" y="3767327"/>
            <a:ext cx="283464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1" i="0">
                <a:solidFill>
                  <a:srgbClr val="0D2A54"/>
                </a:solidFill>
                <a:latin typeface="Arial"/>
              </a:rPr>
              <a:t>3 ·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749039"/>
            <a:ext cx="754380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rgbClr val="1F2D3E"/>
                </a:solidFill>
                <a:latin typeface="Arial"/>
              </a:rPr>
              <a:t>Keyed (HMAC) digests for maze files; hash-checked installation and dependency audit.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608576"/>
            <a:ext cx="108356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BDCCDE"/>
            </a:solidFill>
          </a:ln>
          <a:effectLst>
            <a:outerShdw blurRad="50800" dist="25400" dir="5400000" algn="bl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68680" y="4700016"/>
            <a:ext cx="2834640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1" i="0">
                <a:solidFill>
                  <a:srgbClr val="0D2A54"/>
                </a:solidFill>
                <a:latin typeface="Arial"/>
              </a:rPr>
              <a:t>4 · FINAL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681728"/>
            <a:ext cx="754380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rgbClr val="1F2D3E"/>
                </a:solidFill>
                <a:latin typeface="Arial"/>
              </a:rPr>
              <a:t>Complete the report, demo script and charts, and rehearse the model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7784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0" i="0">
                <a:solidFill>
                  <a:srgbClr val="5D6875"/>
                </a:solidFill>
                <a:latin typeface="Arial"/>
              </a:rPr>
              <a:t>Planned milestones from the Phase I report, Chapter 5; the core system and the interface already work.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FF0000"/>
                </a:solidFill>
              </a:rPr>
              <a:t>References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19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777240" y="1810512"/>
            <a:ext cx="10698480" cy="4297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F2D3E"/>
                </a:solidFill>
                <a:latin typeface="Arial"/>
              </a:rPr>
              <a:t>[1] E. W. Dijkstra, “A Note on Two Problems in Connexion with Graphs,” Numerische Mathematik, 1959.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F2D3E"/>
                </a:solidFill>
                <a:latin typeface="Arial"/>
              </a:rPr>
              <a:t>[2] P. E. Hart, N. J. Nilsson and B. Raphael, “A Formal Basis for the Heuristic Determination of Minimum Cost Paths,” IEEE Trans. SSC, 1968.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F2D3E"/>
                </a:solidFill>
                <a:latin typeface="Arial"/>
              </a:rPr>
              <a:t>[3] A. Stentz, “Optimal and Efficient Path Planning for Partially-Known Environments,” IEEE ICRA, 1994.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F2D3E"/>
                </a:solidFill>
                <a:latin typeface="Arial"/>
              </a:rPr>
              <a:t>[4] B. Yamauchi, “A Frontier-Based Approach for Autonomous Exploration,” IEEE CIRA, 1997.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F2D3E"/>
                </a:solidFill>
                <a:latin typeface="Arial"/>
              </a:rPr>
              <a:t>[5] S. Koenig and M. Likhachev, “D* Lite,” AAAI, 2002.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F2D3E"/>
                </a:solidFill>
                <a:latin typeface="Arial"/>
              </a:rPr>
              <a:t>[6] D. Harabor and A. Grastien, “Online Graph Pruning for Pathfinding on Grid Maps,” AAAI, 2011.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F2D3E"/>
                </a:solidFill>
                <a:latin typeface="Arial"/>
              </a:rPr>
              <a:t>[7] N. R. Sturtevant, “Benchmarks for Grid-Based Pathfinding,” IEEE Trans. CIAIG, 2012.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F2D3E"/>
                </a:solidFill>
                <a:latin typeface="Arial"/>
              </a:rPr>
              <a:t>[8] S. Russell and P. Norvig, Artificial Intelligence: A Modern Approach, 4th ed., Pearson, 2021.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C349C-5BE6-7AA1-4EE3-C4AA5A3BB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3168074"/>
            <a:ext cx="10668000" cy="1216025"/>
          </a:xfrm>
        </p:spPr>
        <p:txBody>
          <a:bodyPr anchor="ctr"/>
          <a:lstStyle/>
          <a:p>
            <a:pPr algn="ctr"/>
            <a:r>
              <a:rPr lang="en-IN" altLang="en-US" sz="4000" b="1" dirty="0">
                <a:solidFill>
                  <a:srgbClr val="FF0000"/>
                </a:solidFill>
              </a:rPr>
              <a:t>Thank You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4F5F3-B604-7034-3991-F0917DEC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3B680-F650-469F-A231-392F163461F6}" type="slidenum">
              <a:rPr lang="en-US" altLang="en-US" smtClean="0"/>
              <a:pPr>
                <a:defRPr/>
              </a:pPr>
              <a:t>20</a:t>
            </a:fld>
            <a:endParaRPr lang="en-US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87552" y="4343400"/>
            <a:ext cx="10149840" cy="466344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0D2A54"/>
                </a:solidFill>
                <a:latin typeface="Arial"/>
              </a:rPr>
              <a:t>AI Based Maze Navigation and Pathfinding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910328"/>
            <a:ext cx="8531352" cy="420624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60" b="1">
                <a:solidFill>
                  <a:srgbClr val="1D4980"/>
                </a:solidFill>
                <a:latin typeface="Arial"/>
              </a:rPr>
              <a:t>Alagappan R (241901003)  ·  Aswin J (241901010)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5340096"/>
            <a:ext cx="9262872" cy="365760"/>
          </a:xfrm>
          <a:prstGeom prst="rect">
            <a:avLst/>
          </a:prstGeom>
          <a:noFill/>
        </p:spPr>
        <p:txBody>
          <a:bodyPr wrap="square" lIns="36576" rIns="36576" tIns="36576" bIns="36576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20" b="0">
                <a:solidFill>
                  <a:srgbClr val="5D6875"/>
                </a:solidFill>
                <a:latin typeface="Arial"/>
              </a:rPr>
              <a:t>Supervisor: Dr. S. Bhuvana, Assistant Professor (SG)</a:t>
            </a:r>
          </a:p>
        </p:txBody>
      </p:sp>
    </p:spTree>
    <p:extLst>
      <p:ext uri="{BB962C8B-B14F-4D97-AF65-F5344CB8AC3E}">
        <p14:creationId xmlns:p14="http://schemas.microsoft.com/office/powerpoint/2010/main" val="2273965067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746</Words>
  <Application>Microsoft Office PowerPoint</Application>
  <PresentationFormat>Widescreen</PresentationFormat>
  <Paragraphs>140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Calibri</vt:lpstr>
      <vt:lpstr>Verdana</vt:lpstr>
      <vt:lpstr>Wingdings</vt:lpstr>
      <vt:lpstr>Profile</vt:lpstr>
      <vt:lpstr>PowerPoint Presentation</vt:lpstr>
      <vt:lpstr>Problem Statement and Motivation</vt:lpstr>
      <vt:lpstr>Objectives</vt:lpstr>
      <vt:lpstr>Project Progress Since Review 1</vt:lpstr>
      <vt:lpstr>Literature Survey</vt:lpstr>
      <vt:lpstr>Literature Survey</vt:lpstr>
      <vt:lpstr> Research Gap and Project Response</vt:lpstr>
      <vt:lpstr>System Architecture / Proposed System</vt:lpstr>
      <vt:lpstr>DFD Diagram</vt:lpstr>
      <vt:lpstr>Methodology / Workflow Diagram</vt:lpstr>
      <vt:lpstr>Tools and Technologies</vt:lpstr>
      <vt:lpstr>List of Modules</vt:lpstr>
      <vt:lpstr>Module Implementation – Part 1</vt:lpstr>
      <vt:lpstr>Module Implementation – Part 2</vt:lpstr>
      <vt:lpstr>Preliminary Results and Discussion</vt:lpstr>
      <vt:lpstr>User Interface / Implementation Screenshots</vt:lpstr>
      <vt:lpstr>Challenges Faced and Solutions</vt:lpstr>
      <vt:lpstr>Work Plan Until Final Review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16</cp:revision>
  <dcterms:modified xsi:type="dcterms:W3CDTF">2026-10-13T06:01:55Z</dcterms:modified>
</cp:coreProperties>
</file>