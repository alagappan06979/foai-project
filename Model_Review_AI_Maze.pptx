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9"/>
    <p:sldId id="280" r:id="rId8"/>
    <p:sldId id="281" r:id="rId7"/>
    <p:sldId id="282" r:id="rId6"/>
    <p:sldId id="283" r:id="rId5"/>
    <p:sldId id="284" r:id="rId4"/>
    <p:sldId id="285" r:id="rId3"/>
    <p:sldId id="286" r:id="rId28"/>
    <p:sldId id="287" r:id="rId29"/>
    <p:sldId id="288" r:id="rId30"/>
    <p:sldId id="289" r:id="rId31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24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Braided 61 × 61</c:v>
                </c:pt>
              </c:strCache>
            </c:strRef>
          </c:tx>
          <c:spPr>
            <a:solidFill>
              <a:srgbClr val="9AB8DD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BFS</c:v>
                </c:pt>
                <c:pt idx="1">
                  <c:v>DFS</c:v>
                </c:pt>
                <c:pt idx="2">
                  <c:v>Dijkstra</c:v>
                </c:pt>
                <c:pt idx="3">
                  <c:v>Greedy</c:v>
                </c:pt>
                <c:pt idx="4">
                  <c:v>A*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1891.85</c:v>
                </c:pt>
                <c:pt idx="1">
                  <c:v>530.1</c:v>
                </c:pt>
                <c:pt idx="2">
                  <c:v>1891.85</c:v>
                </c:pt>
                <c:pt idx="3">
                  <c:v>232.5</c:v>
                </c:pt>
                <c:pt idx="4">
                  <c:v>1016.25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 field 61 × 61</c:v>
                </c:pt>
              </c:strCache>
            </c:strRef>
          </c:tx>
          <c:spPr>
            <a:solidFill>
              <a:srgbClr val="1D498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BFS</c:v>
                </c:pt>
                <c:pt idx="1">
                  <c:v>DFS</c:v>
                </c:pt>
                <c:pt idx="2">
                  <c:v>Dijkstra</c:v>
                </c:pt>
                <c:pt idx="3">
                  <c:v>Greedy</c:v>
                </c:pt>
                <c:pt idx="4">
                  <c:v>A*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2766.35</c:v>
                </c:pt>
                <c:pt idx="1">
                  <c:v>806.45</c:v>
                </c:pt>
                <c:pt idx="2">
                  <c:v>2766.35</c:v>
                </c:pt>
                <c:pt idx="3">
                  <c:v>180.75</c:v>
                </c:pt>
                <c:pt idx="4">
                  <c:v>451.15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3340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F6973"/>
                    </a:solidFill>
                  </a:rPr>
                  <a:t>nodes expanded (mean of 20)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340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Sensing range 1</c:v>
                </c:pt>
              </c:strCache>
            </c:strRef>
          </c:tx>
          <c:spPr>
            <a:ln w="28575">
              <a:solidFill>
                <a:srgbClr val="9AB8DD"/>
              </a:solidFill>
            </a:ln>
          </c:spPr>
          <c:marker>
            <c:symbol val="circle"/>
            <c:size val="7"/>
            <c:spPr>
              <a:solidFill>
                <a:srgbClr val="9AB8DD"/>
              </a:solidFill>
              <a:ln>
                <a:solidFill>
                  <a:srgbClr val="9AB8DD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4 walls</c:v>
                </c:pt>
                <c:pt idx="1">
                  <c:v>8 walls</c:v>
                </c:pt>
                <c:pt idx="2">
                  <c:v>16 walls</c:v>
                </c:pt>
                <c:pt idx="3">
                  <c:v>32 walls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31.12759177615808</c:v>
                </c:pt>
                <c:pt idx="1">
                  <c:v>43.51947900731132</c:v>
                </c:pt>
                <c:pt idx="2">
                  <c:v>59.997339313132585</c:v>
                </c:pt>
                <c:pt idx="3">
                  <c:v>43.83389935864627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Sensing range 3</c:v>
                </c:pt>
              </c:strCache>
            </c:strRef>
          </c:tx>
          <c:spPr>
            <a:ln w="28575">
              <a:solidFill>
                <a:srgbClr val="4F81BD"/>
              </a:solidFill>
            </a:ln>
          </c:spPr>
          <c:marker>
            <c:symbol val="circle"/>
            <c:size val="7"/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4 walls</c:v>
                </c:pt>
                <c:pt idx="1">
                  <c:v>8 walls</c:v>
                </c:pt>
                <c:pt idx="2">
                  <c:v>16 walls</c:v>
                </c:pt>
                <c:pt idx="3">
                  <c:v>32 walls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20.596068455956903</c:v>
                </c:pt>
                <c:pt idx="1">
                  <c:v>33.567268020395126</c:v>
                </c:pt>
                <c:pt idx="2">
                  <c:v>34.968050140125705</c:v>
                </c:pt>
                <c:pt idx="3">
                  <c:v>38.82644517256622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Sensing range 5</c:v>
                </c:pt>
              </c:strCache>
            </c:strRef>
          </c:tx>
          <c:spPr>
            <a:ln w="28575">
              <a:solidFill>
                <a:srgbClr val="0D2A54"/>
              </a:solidFill>
            </a:ln>
          </c:spPr>
          <c:marker>
            <c:symbol val="circle"/>
            <c:size val="7"/>
            <c:spPr>
              <a:solidFill>
                <a:srgbClr val="0D2A54"/>
              </a:solidFill>
              <a:ln>
                <a:solidFill>
                  <a:srgbClr val="0D2A5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4 walls</c:v>
                </c:pt>
                <c:pt idx="1">
                  <c:v>8 walls</c:v>
                </c:pt>
                <c:pt idx="2">
                  <c:v>16 walls</c:v>
                </c:pt>
                <c:pt idx="3">
                  <c:v>32 walls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16.435942200057944</c:v>
                </c:pt>
                <c:pt idx="1">
                  <c:v>23.555049705869127</c:v>
                </c:pt>
                <c:pt idx="2">
                  <c:v>26.666479341358166</c:v>
                </c:pt>
                <c:pt idx="3">
                  <c:v>26.874295167952805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F6973"/>
                    </a:solidFill>
                  </a:rPr>
                  <a:t>mean detour over optimal (%), 31 × 31 mazes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340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18288" tIns="18288" rIns="18288" bIns="18288" rtlCol="0" anchor="ctr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AI BASED MAZE NAVIGATION AND</a:t>
            </a:r>
          </a:p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PATHFINDING SYSTEM | MODEL REVIEW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75504"/>
            <a:ext cx="3429000" cy="95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Supervisor: Dr. S. Bhuvana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79" y="5102352"/>
            <a:ext cx="3986784" cy="111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Team members: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Alagappan R (241901003)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Aswin J (241901010)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1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31520" y="1801368"/>
            <a:ext cx="10744200" cy="41605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19556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F2D3E"/>
                </a:solidFill>
                <a:latin typeface="Arial"/>
              </a:rPr>
              <a:t>An AI system that finds the least-cost route through a grid maze and </a:t>
            </a:r>
            <a:r>
              <a:rPr sz="1800" b="1" i="0">
                <a:solidFill>
                  <a:srgbClr val="0D2A54"/>
                </a:solidFill>
                <a:latin typeface="Arial"/>
              </a:rPr>
              <a:t>navigates</a:t>
            </a:r>
            <a:r>
              <a:rPr sz="1800" b="0" i="0">
                <a:solidFill>
                  <a:srgbClr val="1F2D3E"/>
                </a:solidFill>
                <a:latin typeface="Arial"/>
              </a:rPr>
              <a:t> it when the maze changes after planning. Cells are states, four moves are actions and every move has a cost.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F2D3E"/>
                </a:solidFill>
                <a:latin typeface="Arial"/>
              </a:rPr>
              <a:t>BFS, DFS, Dijkstra, Greedy Best-First and </a:t>
            </a:r>
            <a:r>
              <a:rPr sz="1800" b="1" i="0">
                <a:solidFill>
                  <a:srgbClr val="0D2A54"/>
                </a:solidFill>
                <a:latin typeface="Arial"/>
              </a:rPr>
              <a:t>A</a:t>
            </a:r>
            <a:r>
              <a:rPr sz="1800" b="0" i="0">
                <a:solidFill>
                  <a:srgbClr val="1F2D3E"/>
                </a:solidFill>
                <a:latin typeface="Arial"/>
              </a:rPr>
              <a:t>* run on one maze model; for navigation the agent follows its A* plan, </a:t>
            </a:r>
            <a:r>
              <a:rPr sz="1800" b="1" i="0">
                <a:solidFill>
                  <a:srgbClr val="0D2A54"/>
                </a:solidFill>
                <a:latin typeface="Arial"/>
              </a:rPr>
              <a:t>senses walls within a range r</a:t>
            </a:r>
            <a:r>
              <a:rPr sz="1800" b="0" i="0">
                <a:solidFill>
                  <a:srgbClr val="1F2D3E"/>
                </a:solidFill>
                <a:latin typeface="Arial"/>
              </a:rPr>
              <a:t>, records them in a belief map and </a:t>
            </a:r>
            <a:r>
              <a:rPr sz="1800" b="1" i="0">
                <a:solidFill>
                  <a:srgbClr val="0D2A54"/>
                </a:solidFill>
                <a:latin typeface="Arial"/>
              </a:rPr>
              <a:t>re-plans from where it stands</a:t>
            </a:r>
            <a:r>
              <a:rPr sz="1800" b="0" i="0">
                <a:solidFill>
                  <a:srgbClr val="1F2D3E"/>
                </a:solidFill>
                <a:latin typeface="Arial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F2D3E"/>
                </a:solidFill>
                <a:latin typeface="Arial"/>
              </a:rPr>
              <a:t>On 400 mazes A* was always optimal and expanded up to 87 % fewer cells than BFS. After walls appeared, a fixed plan failed in 66 of 80 runs while re-planning A* always reached the goal (12–23 % mean detour); a sensing range of 5 instead of 1 cut the detour with four new walls from 31 % to 16 %.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10195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D2A54"/>
                </a:solidFill>
                <a:latin typeface="Arial"/>
              </a:rPr>
              <a:t>Keywords:</a:t>
            </a:r>
            <a:r>
              <a:rPr sz="1400" b="0" i="0">
                <a:solidFill>
                  <a:srgbClr val="5D6875"/>
                </a:solidFill>
                <a:latin typeface="Arial"/>
              </a:rPr>
              <a:t> A* search · pathfinding · heuristic search · dynamic re-planning · sensing range · state-space search · input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Problem Statement and 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Classical maze solvers use one fixed strategy (DFS or BFS), expand cells far from the route and count moves, not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A plan is computed once and never checked: when a corridor closes after planning, the agent walks into the new wall and stops.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Few tools compare search algorithms on the same mazes or measure what re-planning costs, and maze files are rarely validated.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Our goal: an agent that plans optimally with A*, senses and re-plans when the maze changes, and handles files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Model the maze as a state space: cells, four moves, entry costs, and a sensing range for the moving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Implement A* with BFS, DFS, Dijkstra and Greedy baselines on one maze model, and measure them on generated mazes.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Build a navigating agent that senses new walls, keeps a belief map and re-plans with A*; compare it with a fixed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Visualise every step in Pygame and load every file safely. Achieved: 24/24 tests, 400-maze search benchmark, 80 dynamic scenarios, 240-run sensing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55648"/>
          <a:ext cx="10972800" cy="3474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"/>
                <a:gridCol w="2011680"/>
                <a:gridCol w="3291840"/>
                <a:gridCol w="2468880"/>
                <a:gridCol w="274320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Dijkstra (1959)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Note on Two Problems in Connexion with Graphs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Uniform-cost shortest path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Explores in every direction; many cells expanded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Hart, Nilsson &amp; Raphael (1968)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Formal Basis for the Heuristic Determination of Minimum Cost Paths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A* search, f = g + 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Needs a known map; savings depend on 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Stentz (1994)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Optimal and Efficient Path Planning for Partially-Known Environments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D*: re-planning as the map is corrected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Complex; designed for robots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Sources and limitations adapted from the Phase I Report, literature review (Section 2.1).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55648"/>
          <a:ext cx="10972800" cy="3474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"/>
                <a:gridCol w="2011680"/>
                <a:gridCol w="3291840"/>
                <a:gridCol w="2468880"/>
                <a:gridCol w="274320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Yamauchi (1997)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Frontier-Based Approach for Autonomous Exploration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Frontier-based exploration with limited sensing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Explores; does not plan least-cost routes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Koenig &amp; Likhachev (2002)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D* Lite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Incremental re-planning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More complex than re-running A*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Harabor &amp; Grastien (2011)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Online Graph Pruning for Pathfinding on Grid Maps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Jump Point Search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Uniform move costs only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These studies motivate sensing, belief-map updates and re-planning in our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Research Gap and Project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1. Literature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A* is optimal with an admissible heuristic; D* and D* Lite re-plan when a robot finds its map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10512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55080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2.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Teaching tools plan once on a static map; the cost of re-planning and the role of sensing go unmeasured; files are loaded unsafely.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822191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" y="39593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3. Refined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8912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No classroom-scale tool measures the search algorithms and re-planning after a change on the same mazes.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22191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39593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4. Progress toward 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Complete system: A* optimal on 400/400 mazes; a 5-cell sensing range roughly halves the detour after a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System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01368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72" y="1856231"/>
            <a:ext cx="3532694" cy="41879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801368"/>
            <a:ext cx="5074920" cy="96926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12848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D3E"/>
                </a:solidFill>
                <a:latin typeface="Arial"/>
              </a:rPr>
              <a:t>Pygame window: maze view, controls, statistics and the route driven.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5074920" cy="96926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53512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Application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D3E"/>
                </a:solidFill>
                <a:latin typeface="Arial"/>
              </a:rPr>
              <a:t>mazesolver package: maze environment, search engine and navigator (belief map, sensing, re-planning A*).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59352"/>
            <a:ext cx="5074920" cy="96926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75120" y="4032504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Analysis and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70832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D3E"/>
                </a:solidFill>
                <a:latin typeface="Arial"/>
              </a:rPr>
              <a:t>Benchmark runner, charts and 24 tests use the same core as the interface.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038344"/>
            <a:ext cx="5074920" cy="96926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0" y="5111496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Local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49824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D3E"/>
                </a:solidFill>
                <a:latin typeface="Arial"/>
              </a:rPr>
              <a:t>Maze files with SHA-256 digests, results — all checked on 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598932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dfd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56231"/>
            <a:ext cx="5385816" cy="38221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801368"/>
            <a:ext cx="493776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0" name="Picture 9" descr="dfd_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34" y="1856231"/>
            <a:ext cx="3385370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Level 0 (context) and Level 1 DFD. Stores: D3 belief map, D6 results, D8 maze files + digests. Level-2 diagrams are in the Phase I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UML – Use Case and Activity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475488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08" y="1856231"/>
            <a:ext cx="3590544" cy="38221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0" y="1801368"/>
            <a:ext cx="617220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0" name="Picture 9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764" y="1856231"/>
            <a:ext cx="2889950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1965960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0D2A54"/>
                </a:solidFill>
                <a:latin typeface="Arial"/>
              </a:rPr>
              <a:t>Use case:</a:t>
            </a:r>
            <a:r>
              <a:rPr sz="1250" b="0" i="0">
                <a:solidFill>
                  <a:srgbClr val="1F2D3E"/>
                </a:solidFill>
                <a:latin typeface="Arial"/>
              </a:rPr>
              <a:t> the user generates, loads or edits a maze, runs a search, compares algorithms, simulates a dynamic maze and navigates it with re-planning A*; the developer runs benchmarks and tests.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0D2A54"/>
                </a:solidFill>
                <a:latin typeface="Arial"/>
              </a:rPr>
              <a:t>Activity:</a:t>
            </a:r>
            <a:r>
              <a:rPr sz="1250" b="0" i="0">
                <a:solidFill>
                  <a:srgbClr val="1F2D3E"/>
                </a:solidFill>
                <a:latin typeface="Arial"/>
              </a:rPr>
              <a:t> validate → choose an algorithm or comparison → animate; navigating a changing maze triggers sensing and re-planning.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Loading a maze always includes validation; the dynamic simulation and navigation both include A*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UML – Sequence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seq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3030"/>
            <a:ext cx="5303520" cy="33885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801368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0" name="Picture 9" descr="seq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16" y="1856231"/>
            <a:ext cx="4721086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Left: an A* run (messages 1–10). Right: navigation after three new walls, with sensing and re-planning (11–23).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Methodology / Workflow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01 ·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Maze type, size, seed or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2359152"/>
            <a:ext cx="28346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02 ·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Digest, symbols, one S and 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3168" y="2359152"/>
            <a:ext cx="283463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03 ·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A* · BFS · DFS · Dijkstra · Greedy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9168" y="2359152"/>
            <a:ext cx="283463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04 · NAVIGATE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Sense · belief map · re-plan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2359152"/>
            <a:ext cx="28346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46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05 ·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Path, route,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63040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24 unit tests → all pass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24528" y="4133087"/>
            <a:ext cx="466344" cy="0"/>
          </a:xfrm>
          <a:prstGeom prst="line">
            <a:avLst/>
          </a:prstGeom>
          <a:ln w="31750">
            <a:solidFill>
              <a:srgbClr val="1D49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60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09160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E1–E4 with fixed seeds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70648" y="4133087"/>
            <a:ext cx="466344" cy="0"/>
          </a:xfrm>
          <a:prstGeom prst="line">
            <a:avLst/>
          </a:prstGeom>
          <a:ln w="31750">
            <a:solidFill>
              <a:srgbClr val="1D49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55279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55279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VISUALISE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Pygame views and charts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No dataset or training data is needed: mazes are generated from a seed and every result can be regenerated.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Core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40080" y="1801368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892807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C10000"/>
                </a:solidFill>
                <a:latin typeface="Arial"/>
              </a:rPr>
              <a:t>A*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f(n) = g(n) + h(n)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h = Manhattan distance: admissible and consistent on a 4-connected grid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Ties broken towards larger g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Optimal; expands each cell at most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01368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43400" y="1892807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C10000"/>
                </a:solidFill>
                <a:latin typeface="Arial"/>
              </a:rPr>
              <a:t>NAVIGATION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Follow the A* plan one move at a time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Sense every wall within Manhattan distance r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Record new walls in the belief map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Re-plan from the current cell when the plan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01368"/>
            <a:ext cx="3474720" cy="3886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19" y="1892807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C10000"/>
                </a:solidFill>
                <a:latin typeface="Arial"/>
              </a:rPr>
              <a:t>BASELINES &amp;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377440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Fixed plan: no sensing, fails at the first new wall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Oracle: A* on the changed maze gives the optimal cost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Detour = cost ÷ optimal − 1</a:t>
            </a:r>
          </a:p>
          <a:p>
            <a:pPr algn="l" marL="201168" indent="-201168">
              <a:spcAft>
                <a:spcPts val="1000"/>
              </a:spcAft>
              <a:buClr>
                <a:srgbClr val="C10000"/>
              </a:buClr>
              <a:buSzPct val="100000"/>
              <a:buChar char="•"/>
            </a:pPr>
            <a:r>
              <a:rPr sz="1400" b="0" i="0">
                <a:solidFill>
                  <a:srgbClr val="1F2D3E"/>
                </a:solidFill>
                <a:latin typeface="Arial"/>
              </a:rPr>
              <a:t>Effort = re-plans and nodes of all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4243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Dijkstra’s algorithm is the same best-first procedure with h = 0; Greedy Best-First orders the frontier by h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0392" y="1810512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190195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83664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Maze environment and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9019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432304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523744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05456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Search algorithms (BFS, DFS, Dijkstra, Greedy, A*)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52374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054096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4984" y="3145536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2724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Dynamic navigation and re-planning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14553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3675887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4984" y="3767327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49039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Visualisation and user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67327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4297680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14984" y="4389120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7083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Performance analysis and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38912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" y="4919472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14984" y="501091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92624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Secure file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01091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Module mapping follows the Phase I report (Table 3.3).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Results – Search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640080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874519"/>
          <a:ext cx="62179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78040" y="1801368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856231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84 %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874519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0" i="0">
                <a:solidFill>
                  <a:srgbClr val="5D6875"/>
                </a:solidFill>
                <a:latin typeface="Arial"/>
              </a:rPr>
              <a:t>fewer nodes than BFS on open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788920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0" y="2843784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0D2A54"/>
                </a:solidFill>
                <a:latin typeface="Arial"/>
              </a:rPr>
              <a:t>400 /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862072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0" i="0">
                <a:solidFill>
                  <a:srgbClr val="5D6875"/>
                </a:solidFill>
                <a:latin typeface="Arial"/>
              </a:rPr>
              <a:t>optimal paths from A* and Dijkstra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776472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0" y="3831335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0D2A54"/>
                </a:solidFill>
                <a:latin typeface="Arial"/>
              </a:rPr>
              <a:t>19–44 %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849624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0" i="0">
                <a:solidFill>
                  <a:srgbClr val="5D6875"/>
                </a:solidFill>
                <a:latin typeface="Arial"/>
              </a:rPr>
              <a:t>extra cost of Greedy paths (0 / 20 optimal)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764024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4818888"/>
            <a:ext cx="17373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0D2A54"/>
                </a:solidFill>
                <a:latin typeface="Arial"/>
              </a:rPr>
              <a:t>4.4×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837176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50" b="0" i="0">
                <a:solidFill>
                  <a:srgbClr val="5D6875"/>
                </a:solidFill>
                <a:latin typeface="Arial"/>
              </a:rPr>
              <a:t>optimal cost: DFS paths on open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790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Manhattan heuristic: 46 % fewer expansions than h = 0 on braided mazes, 84 % on open fields (E2).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Results – Dynamic Mazes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5760720" cy="2514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25880"/>
                <a:gridCol w="868680"/>
                <a:gridCol w="960120"/>
                <a:gridCol w="914400"/>
                <a:gridCol w="822960"/>
                <a:gridCol w="868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Fixed plan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Re-plan A*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Mean detour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Re-plans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Nodes vs oracle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21×21 door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23 %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1.7×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21×21 walls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7/20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23 %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1.10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1.9×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31×31 door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18 %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1.5×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31×31 walls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7/20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20/20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12 %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D3E"/>
                          </a:solidFill>
                          <a:latin typeface="Arial"/>
                        </a:rPr>
                        <a:t>1.6×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D6875"/>
                </a:solidFill>
                <a:latin typeface="Arial"/>
              </a:rPr>
              <a:t>Fixed plan and Re-plan A*: runs reaching G. Detour: extra cost over the optimal cost of the changed maze. Nodes: all plans together ÷ one A* search on the changed maze.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01368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0" name="Picture 9" descr="chart_e3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45805"/>
            <a:ext cx="4983480" cy="2452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7790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Re-planning A* always reached the goal; mean detour 12–23 % (median 5–14 %) with a sensing range of one cell.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Results – Sensing Range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640080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874519"/>
          <a:ext cx="62179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78040" y="1801368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856231"/>
            <a:ext cx="19659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100" b="1" i="0">
                <a:solidFill>
                  <a:srgbClr val="C10000"/>
                </a:solidFill>
                <a:latin typeface="Arial"/>
              </a:rPr>
              <a:t>31 → 16 %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874519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 i="0">
                <a:solidFill>
                  <a:srgbClr val="5D6875"/>
                </a:solidFill>
                <a:latin typeface="Arial"/>
              </a:rPr>
              <a:t>mean detour with 4 new walls, range 1 →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788920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0" y="2843784"/>
            <a:ext cx="19659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100" b="1" i="0">
                <a:solidFill>
                  <a:srgbClr val="0D2A54"/>
                </a:solidFill>
                <a:latin typeface="Arial"/>
              </a:rPr>
              <a:t>60 → 27 %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862072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 i="0">
                <a:solidFill>
                  <a:srgbClr val="5D6875"/>
                </a:solidFill>
                <a:latin typeface="Arial"/>
              </a:rPr>
              <a:t>mean detour with 16 new walls, range 1 →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776472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0" y="3831335"/>
            <a:ext cx="19659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100" b="1" i="0">
                <a:solidFill>
                  <a:srgbClr val="0D2A54"/>
                </a:solidFill>
                <a:latin typeface="Arial"/>
              </a:rPr>
              <a:t>2.2 → 4.8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849624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 i="0">
                <a:solidFill>
                  <a:srgbClr val="5D6875"/>
                </a:solidFill>
                <a:latin typeface="Arial"/>
              </a:rPr>
              <a:t>re-plans per run, 4 → 32 new walls (r =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764024"/>
            <a:ext cx="4434840" cy="8961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4818888"/>
            <a:ext cx="196596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100" b="1" i="0">
                <a:solidFill>
                  <a:srgbClr val="0D2A54"/>
                </a:solidFill>
                <a:latin typeface="Arial"/>
              </a:rPr>
              <a:t>240 / 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837176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 i="0">
                <a:solidFill>
                  <a:srgbClr val="5D6875"/>
                </a:solidFill>
                <a:latin typeface="Arial"/>
              </a:rPr>
              <a:t>runs reached G; the fixed plan failed in all of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790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Seeing farther cut the mean detour by 39–56 % while changing the search effort by at most about 11 % (E4, 20 mazes per point).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Security – Threat Model and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475488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63" y="1856231"/>
            <a:ext cx="3434433" cy="382219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32120" y="1810512"/>
          <a:ext cx="6126480" cy="371246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51760"/>
                <a:gridCol w="685800"/>
                <a:gridCol w="278892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Threat (STRIDE)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Entry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Oversized or malformed maze file (DoS, tampering)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Allow-list parser; ≤ 201 × 201; one S and 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Maze changed after saving (tampering)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E3, E4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SHA-256 digest; --strict requires it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File crafted to run code (elevation of privilege)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Plain text only; nothing deserialised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Compromised package (spoofing)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Pinned NumPy, Pygame, Matplotlib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Runaway request (DoS)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Caps: size, walls, range, steps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Error details leak (disclosure)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E1, E3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E"/>
                          </a:solidFill>
                          <a:latin typeface="Arial"/>
                        </a:rPr>
                        <a:t>One-line reason, no stack trace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Planned: keyed (HMAC) digests, hash-checked installation and dependency auditing.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Implementation 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01368"/>
            <a:ext cx="534924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gui_we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10" y="1865376"/>
            <a:ext cx="3094499" cy="1956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0520" y="2075688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0D2A54"/>
                </a:solidFill>
                <a:latin typeface="Arial"/>
              </a:rPr>
              <a:t>A* on a weighted maze (rough terrain)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01368"/>
            <a:ext cx="534924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1" name="Picture 10" descr="gui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310" y="1865376"/>
            <a:ext cx="3094499" cy="1956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46920" y="2075688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0D2A54"/>
                </a:solidFill>
                <a:latin typeface="Arial"/>
              </a:rPr>
              <a:t>Four algorithms on one maze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95928"/>
            <a:ext cx="534924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4" name="Picture 13" descr="gui_dynam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10" y="4059936"/>
            <a:ext cx="3094499" cy="1956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60520" y="4270248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0D2A54"/>
                </a:solidFill>
                <a:latin typeface="Arial"/>
              </a:rPr>
              <a:t>Three new walls, sensing range 1: cost 126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95928"/>
            <a:ext cx="534924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7" name="Picture 16" descr="gui_sens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310" y="4059936"/>
            <a:ext cx="3094499" cy="1956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46920" y="4270248"/>
            <a:ext cx="1783080" cy="1645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0D2A54"/>
                </a:solidFill>
                <a:latin typeface="Arial"/>
              </a:rPr>
              <a:t>Same maze, sensing range 5: cost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Challenges Faced and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10512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Plans broken by new 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83664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The agent senses walls within range r, records them in its belief map and re-plans with A* from its current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Walls found too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6352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With range 1 the agent meets a wall only on arrival (mean detour 12–23 %); range 5 cuts the detour by 39–56 %.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75887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3767327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Keeping the goal reachable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49039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Every new wall is checked with BFS before it is kept, so each dynamic scenario stays solvable.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08576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700016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Tampered maze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81728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Saved mazes carry a SHA-256 digest; a changed file is rejected, and --strict demands a digest.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Re-planning starts from scratch: all plans together expanded 1.5–1.9× the cells of one search — D* Lite is future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21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A* gave the optimal route on all 400 test mazes and expanded up to 87 % fewer cells than BFS on open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When walls appeared after planning, a fixed plan failed in 66 of 80 runs; re-planning A* always reached the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The detour depends on sight: a sensing range of 5 instead of 1 cut it by 39–56 % at almost no extra computation.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Files are untrusted input: allow-list parsing, SHA-256 digests, strict mode and resource caps.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Incremental re-planning with D* Lite to reuse search effort after each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Jump Point Search, weighted and bidirectional A*, and the standard benchmark maps.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Partial observability with frontier exploration, moving obstacles and several agents in one maze.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Keyed (HMAC) digests, hash-checked installation and a web version of the visualiser for classrooms.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[1] E. W. Dijkstra, “A Note on Two Problems in Connexion with Graphs,” Numerische Mathematik, 1959.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[2] P. E. Hart, N. J. Nilsson and B. Raphael, “A Formal Basis for the Heuristic Determination of Minimum Cost Paths,” IEEE Trans. SSC, 1968.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[3] A. Stentz, “Optimal and Efficient Path Planning for Partially-Known Environments,” IEEE ICRA, 1994.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[4] B. Yamauchi, “A Frontier-Based Approach for Autonomous Exploration,” IEEE CIRA, 1997.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[5] S. Koenig and M. Likhachev, “D* Lite,” AAAI, 2002.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[6] D. Harabor and A. Grastien, “Online Graph Pruning for Pathfinding on Grid Maps,” AAAI, 2011.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[7] N. R. Sturtevant, “Benchmarks for Grid-Based Pathfinding,” IEEE Trans. CIAIG, 2012.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[8] S. Russell and P. Norvig, Artificial Intelligence: A Modern Approach, 4th ed., Pearson, 2021.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7552" y="4343400"/>
            <a:ext cx="10149840" cy="46634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0D2A54"/>
                </a:solidFill>
                <a:latin typeface="Arial"/>
              </a:rPr>
              <a:t>AI Based Maze Navigation and Pathfinding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10328"/>
            <a:ext cx="8531352" cy="42062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1D4980"/>
                </a:solidFill>
                <a:latin typeface="Arial"/>
              </a:rPr>
              <a:t>Alagappan R (241901003)  ·  Aswin J (241901010)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340096"/>
            <a:ext cx="926287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5D6875"/>
                </a:solidFill>
                <a:latin typeface="Arial"/>
              </a:rPr>
              <a:t>Supervisor: Dr. S. Bhuvana, Assistant Professor (SG)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